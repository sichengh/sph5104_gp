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9"/>
  </p:notesMasterIdLst>
  <p:sldIdLst>
    <p:sldId id="256" r:id="rId2"/>
    <p:sldId id="270" r:id="rId3"/>
    <p:sldId id="257" r:id="rId4"/>
    <p:sldId id="271" r:id="rId5"/>
    <p:sldId id="258" r:id="rId6"/>
    <p:sldId id="260" r:id="rId7"/>
    <p:sldId id="261" r:id="rId8"/>
    <p:sldId id="274" r:id="rId9"/>
    <p:sldId id="264" r:id="rId10"/>
    <p:sldId id="275" r:id="rId11"/>
    <p:sldId id="265" r:id="rId12"/>
    <p:sldId id="276" r:id="rId13"/>
    <p:sldId id="266" r:id="rId14"/>
    <p:sldId id="277" r:id="rId15"/>
    <p:sldId id="278" r:id="rId16"/>
    <p:sldId id="267" r:id="rId17"/>
    <p:sldId id="268" r:id="rId18"/>
  </p:sldIdLst>
  <p:sldSz cx="9144000" cy="5143500" type="screen16x9"/>
  <p:notesSz cx="5143500" cy="9144000"/>
  <p:embeddedFontLst>
    <p:embeddedFont>
      <p:font typeface="微软雅黑" panose="020B0503020204020204" pitchFamily="34" charset="-122"/>
      <p:regular r:id="rId20"/>
      <p:bold r:id="rId21"/>
    </p:embeddedFont>
    <p:embeddedFont>
      <p:font typeface="Liter" panose="02000503030000020004" pitchFamily="2" charset="0"/>
      <p:regular r:id="rId22"/>
    </p:embeddedFont>
    <p:embeddedFont>
      <p:font typeface="Quattrocento Sans" panose="020B0502050000020003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922"/>
    <p:restoredTop sz="94754"/>
  </p:normalViewPr>
  <p:slideViewPr>
    <p:cSldViewPr snapToGrid="0">
      <p:cViewPr varScale="1">
        <p:scale>
          <a:sx n="72" d="100"/>
          <a:sy n="72" d="100"/>
        </p:scale>
        <p:origin x="216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" name="Google Shape;1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matched </a:t>
            </a:r>
          </a:p>
        </p:txBody>
      </p:sp>
    </p:spTree>
    <p:extLst>
      <p:ext uri="{BB962C8B-B14F-4D97-AF65-F5344CB8AC3E}">
        <p14:creationId xmlns:p14="http://schemas.microsoft.com/office/powerpoint/2010/main" val="749817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137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8B4CC"/>
          </a:solidFill>
          <a:ln w="12700" cap="flat" cmpd="sng">
            <a:solidFill>
              <a:srgbClr val="18B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6"/>
          <p:cNvSpPr/>
          <p:nvPr/>
        </p:nvSpPr>
        <p:spPr>
          <a:xfrm>
            <a:off x="6583680" y="457200"/>
            <a:ext cx="3474720" cy="3474720"/>
          </a:xfrm>
          <a:prstGeom prst="ellipse">
            <a:avLst/>
          </a:prstGeom>
          <a:solidFill>
            <a:srgbClr val="0B6E8A">
              <a:alpha val="20000"/>
            </a:srgbClr>
          </a:solidFill>
          <a:ln w="12700" cap="flat" cmpd="sng">
            <a:solidFill>
              <a:srgbClr val="0B6E8A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6"/>
          <p:cNvSpPr/>
          <p:nvPr/>
        </p:nvSpPr>
        <p:spPr>
          <a:xfrm>
            <a:off x="7132320" y="914400"/>
            <a:ext cx="2560320" cy="2560320"/>
          </a:xfrm>
          <a:prstGeom prst="ellipse">
            <a:avLst/>
          </a:prstGeom>
          <a:solidFill>
            <a:srgbClr val="18B4CC">
              <a:alpha val="12156"/>
            </a:srgbClr>
          </a:solidFill>
          <a:ln w="12700" cap="flat" cmpd="sng">
            <a:solidFill>
              <a:srgbClr val="18B4CC">
                <a:alpha val="1215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6"/>
          <p:cNvSpPr/>
          <p:nvPr/>
        </p:nvSpPr>
        <p:spPr>
          <a:xfrm>
            <a:off x="50292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B4CC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8B4CC"/>
                </a:solidFill>
                <a:latin typeface="Calibri"/>
                <a:ea typeface="Calibri"/>
                <a:cs typeface="Calibri"/>
                <a:sym typeface="Calibri"/>
              </a:rPr>
              <a:t>RESEARCH PROPOSAL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6"/>
          <p:cNvSpPr/>
          <p:nvPr/>
        </p:nvSpPr>
        <p:spPr>
          <a:xfrm>
            <a:off x="502920" y="960120"/>
            <a:ext cx="64008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Invasive Mechanical Ventilation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Versus Non-Invasive Respiratory Support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28-Day Mortality in ICU Patients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with Malignant Cancer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6"/>
          <p:cNvSpPr/>
          <p:nvPr/>
        </p:nvSpPr>
        <p:spPr>
          <a:xfrm>
            <a:off x="502920" y="3611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8EEF7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AI declaration: KIMI and Claude were used in creating the slides. Codex is used for data analysis. And Claude was used to assist with assignment writing. </a:t>
            </a:r>
            <a:endParaRPr sz="14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6"/>
          <p:cNvSpPr/>
          <p:nvPr/>
        </p:nvSpPr>
        <p:spPr>
          <a:xfrm>
            <a:off x="502920" y="4251960"/>
            <a:ext cx="2103120" cy="347472"/>
          </a:xfrm>
          <a:prstGeom prst="rect">
            <a:avLst/>
          </a:prstGeom>
          <a:solidFill>
            <a:srgbClr val="0B6E8A"/>
          </a:solidFill>
          <a:ln w="12700" cap="flat" cmpd="sng">
            <a:solidFill>
              <a:srgbClr val="0B6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6"/>
          <p:cNvSpPr/>
          <p:nvPr/>
        </p:nvSpPr>
        <p:spPr>
          <a:xfrm>
            <a:off x="502920" y="425196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 Care Research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6"/>
          <p:cNvSpPr/>
          <p:nvPr/>
        </p:nvSpPr>
        <p:spPr>
          <a:xfrm>
            <a:off x="2834640" y="4251960"/>
            <a:ext cx="2103120" cy="347472"/>
          </a:xfrm>
          <a:prstGeom prst="rect">
            <a:avLst/>
          </a:prstGeom>
          <a:solidFill>
            <a:srgbClr val="0B6E8A"/>
          </a:solidFill>
          <a:ln w="12700" cap="flat" cmpd="sng">
            <a:solidFill>
              <a:srgbClr val="0B6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6"/>
          <p:cNvSpPr/>
          <p:nvPr/>
        </p:nvSpPr>
        <p:spPr>
          <a:xfrm>
            <a:off x="2834640" y="425196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MIMIC-IV Analysis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5166360" y="4251960"/>
            <a:ext cx="2103120" cy="347472"/>
          </a:xfrm>
          <a:prstGeom prst="rect">
            <a:avLst/>
          </a:prstGeom>
          <a:solidFill>
            <a:srgbClr val="0B6E8A"/>
          </a:solidFill>
          <a:ln w="12700" cap="flat" cmpd="sng">
            <a:solidFill>
              <a:srgbClr val="0B6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6"/>
          <p:cNvSpPr/>
          <p:nvPr/>
        </p:nvSpPr>
        <p:spPr>
          <a:xfrm>
            <a:off x="5166360" y="425196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Causal Inference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B6E8A"/>
          </a:solidFill>
          <a:ln w="12700" cap="flat" cmpd="sng">
            <a:solidFill>
              <a:srgbClr val="0B6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>
                <a:solidFill>
                  <a:srgbClr val="4A90A4"/>
                </a:solidFill>
                <a:latin typeface="Calibri"/>
              </a:rPr>
              <a:t>PRESENTATION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750" y="500000"/>
            <a:ext cx="8629650" cy="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800" b="1">
                <a:solidFill>
                  <a:srgbClr val="1E3A5F"/>
                </a:solidFill>
                <a:latin typeface="Calibri"/>
              </a:rPr>
              <a:t>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1050000"/>
            <a:ext cx="4114800" cy="8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522900" y="1240000"/>
            <a:ext cx="500000" cy="500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2900" y="1210000"/>
            <a:ext cx="31048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Background &amp; Clinical Dilemma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2900" y="1610000"/>
            <a:ext cx="31048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5A6B80"/>
                </a:solidFill>
                <a:latin typeface="Calibri"/>
              </a:rPr>
              <a:t>The critical decision facing clinicians in cancer ICU 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6300" y="1050000"/>
            <a:ext cx="4114800" cy="8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4866300" y="1240000"/>
            <a:ext cx="500000" cy="500000"/>
          </a:xfrm>
          <a:prstGeom prst="ellipse">
            <a:avLst/>
          </a:prstGeom>
          <a:solidFill>
            <a:srgbClr val="4A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16300" y="1210000"/>
            <a:ext cx="31048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Study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6300" y="1610000"/>
            <a:ext cx="31048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5A6B80"/>
                </a:solidFill>
                <a:latin typeface="Calibri"/>
              </a:rPr>
              <a:t>Research question, PICO framework, and primary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" y="2044300"/>
            <a:ext cx="4114800" cy="8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522900" y="2234300"/>
            <a:ext cx="500000" cy="500000"/>
          </a:xfrm>
          <a:prstGeom prst="ellipse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2900" y="2204300"/>
            <a:ext cx="31048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2900" y="2604300"/>
            <a:ext cx="31048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5A6B80"/>
                </a:solidFill>
                <a:latin typeface="Calibri"/>
              </a:rPr>
              <a:t>MIMIC-IV data source, study population, and statistical methods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6300" y="2044300"/>
            <a:ext cx="4114800" cy="8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4866300" y="2234300"/>
            <a:ext cx="500000" cy="500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6300" y="2204300"/>
            <a:ext cx="31048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Cohort Characteristics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6300" y="2604300"/>
            <a:ext cx="31048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5A6B80"/>
                </a:solidFill>
                <a:latin typeface="Calibri"/>
              </a:rPr>
              <a:t>Baseline demographics and clinical features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" y="3038600"/>
            <a:ext cx="4114800" cy="8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522900" y="3228600"/>
            <a:ext cx="500000" cy="500000"/>
          </a:xfrm>
          <a:prstGeom prst="ellipse">
            <a:avLst/>
          </a:prstGeom>
          <a:solidFill>
            <a:srgbClr val="4A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2900" y="3198600"/>
            <a:ext cx="31048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Key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2900" y="3598600"/>
            <a:ext cx="31048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5A6B80"/>
                </a:solidFill>
                <a:latin typeface="Calibri"/>
              </a:rPr>
              <a:t>ATT, ATE estimates, and sensitivity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86300" y="3038600"/>
            <a:ext cx="4114800" cy="8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4866300" y="3228600"/>
            <a:ext cx="500000" cy="500000"/>
          </a:xfrm>
          <a:prstGeom prst="ellipse">
            <a:avLst/>
          </a:prstGeom>
          <a:solidFill>
            <a:srgbClr val="C75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6300" y="3198600"/>
            <a:ext cx="31048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Discussion &amp; Conclusions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6300" y="3598600"/>
            <a:ext cx="31048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5A6B80"/>
                </a:solidFill>
                <a:latin typeface="Calibri"/>
              </a:rPr>
              <a:t>Clinical interpretation and implications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" y="4032900"/>
            <a:ext cx="8458200" cy="8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0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522900" y="4222900"/>
            <a:ext cx="500000" cy="5000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2900" y="4192900"/>
            <a:ext cx="74482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Limitations &amp; Future Directions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2900" y="4592900"/>
            <a:ext cx="7448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>
                <a:solidFill>
                  <a:srgbClr val="5A6B80"/>
                </a:solidFill>
                <a:latin typeface="Calibri"/>
              </a:rPr>
              <a:t>Study constraints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320040" y="3657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B4CC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4A90A4"/>
                </a:solidFill>
                <a:latin typeface="Calibri"/>
                <a:ea typeface="Calibri"/>
                <a:cs typeface="Calibri"/>
                <a:sym typeface="Calibri"/>
              </a:rPr>
              <a:t>CLINICAL CONTEXT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7"/>
          <p:cNvSpPr/>
          <p:nvPr/>
        </p:nvSpPr>
        <p:spPr>
          <a:xfrm>
            <a:off x="320040" y="310896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Clinical Background &amp; Research Rationale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7"/>
          <p:cNvSpPr/>
          <p:nvPr/>
        </p:nvSpPr>
        <p:spPr>
          <a:xfrm>
            <a:off x="347472" y="914400"/>
            <a:ext cx="2606040" cy="3931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7"/>
          <p:cNvSpPr/>
          <p:nvPr/>
        </p:nvSpPr>
        <p:spPr>
          <a:xfrm>
            <a:off x="347472" y="914400"/>
            <a:ext cx="2606040" cy="64008"/>
          </a:xfrm>
          <a:prstGeom prst="rect">
            <a:avLst/>
          </a:prstGeom>
          <a:solidFill>
            <a:srgbClr val="0B6E8A"/>
          </a:solidFill>
          <a:ln w="12700" cap="flat" cmpd="sng">
            <a:solidFill>
              <a:srgbClr val="0B6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457200" y="1078992"/>
            <a:ext cx="502920" cy="502920"/>
          </a:xfrm>
          <a:prstGeom prst="ellipse">
            <a:avLst/>
          </a:prstGeom>
          <a:solidFill>
            <a:srgbClr val="C8EEF7"/>
          </a:solidFill>
          <a:ln w="12700" cap="flat" cmpd="sng">
            <a:solidFill>
              <a:srgbClr val="C8EE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780" y="11475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/>
          <p:nvPr/>
        </p:nvSpPr>
        <p:spPr>
          <a:xfrm>
            <a:off x="457200" y="1664208"/>
            <a:ext cx="238658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Why Cancer ICU Patients?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457200" y="2212848"/>
            <a:ext cx="2404872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Respiratory failure is the most frequent ICU admission reason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Sepsis &amp; treatment-related complications also common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Clinical heterogeneity (cancer type, stage, treatment history) complicates decisions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7"/>
          <p:cNvSpPr/>
          <p:nvPr/>
        </p:nvSpPr>
        <p:spPr>
          <a:xfrm>
            <a:off x="457200" y="4517136"/>
            <a:ext cx="24048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FA0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6B8FA0"/>
                </a:solidFill>
                <a:latin typeface="Calibri"/>
                <a:ea typeface="Calibri"/>
                <a:cs typeface="Calibri"/>
                <a:sym typeface="Calibri"/>
              </a:rPr>
              <a:t>Biskup et al., 2017; Codru &amp; Vecerzan, 2025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7"/>
          <p:cNvSpPr/>
          <p:nvPr/>
        </p:nvSpPr>
        <p:spPr>
          <a:xfrm>
            <a:off x="3136392" y="914400"/>
            <a:ext cx="2606040" cy="3931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136392" y="914400"/>
            <a:ext cx="2606040" cy="64008"/>
          </a:xfrm>
          <a:prstGeom prst="rect">
            <a:avLst/>
          </a:prstGeom>
          <a:solidFill>
            <a:srgbClr val="0B6E8A"/>
          </a:solidFill>
          <a:ln w="12700" cap="flat" cmpd="sng">
            <a:solidFill>
              <a:srgbClr val="0B6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7"/>
          <p:cNvSpPr/>
          <p:nvPr/>
        </p:nvSpPr>
        <p:spPr>
          <a:xfrm>
            <a:off x="3246120" y="1078992"/>
            <a:ext cx="502920" cy="502920"/>
          </a:xfrm>
          <a:prstGeom prst="ellipse">
            <a:avLst/>
          </a:prstGeom>
          <a:solidFill>
            <a:srgbClr val="C8EEF7"/>
          </a:solidFill>
          <a:ln w="12700" cap="flat" cmpd="sng">
            <a:solidFill>
              <a:srgbClr val="C8EE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14700" y="11475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/>
          <p:nvPr/>
        </p:nvSpPr>
        <p:spPr>
          <a:xfrm>
            <a:off x="3246120" y="1664208"/>
            <a:ext cx="238658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The Intubation Dilemma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3246120" y="2212848"/>
            <a:ext cx="2404872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Early intervention → improved outcomes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IMV carries serious risks: VAP, VILI, ICU-associated delirium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Non-invasive options (HFNC, NIV/BiPAP) increasingly favoured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3246120" y="4517136"/>
            <a:ext cx="240487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8FA0"/>
              </a:buClr>
              <a:buSzPts val="800"/>
              <a:buFont typeface="Calibri"/>
              <a:buNone/>
            </a:pPr>
            <a:r>
              <a:rPr lang="en-US" sz="800" i="1">
                <a:solidFill>
                  <a:srgbClr val="6B8FA0"/>
                </a:solidFill>
                <a:latin typeface="Calibri"/>
                <a:ea typeface="Calibri"/>
                <a:cs typeface="Calibri"/>
                <a:sym typeface="Calibri"/>
              </a:rPr>
              <a:t>Lee et al., 2015; Azevedo et al., 2014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5925312" y="914400"/>
            <a:ext cx="2606040" cy="3931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5925312" y="914400"/>
            <a:ext cx="2606040" cy="64008"/>
          </a:xfrm>
          <a:prstGeom prst="rect">
            <a:avLst/>
          </a:prstGeom>
          <a:solidFill>
            <a:srgbClr val="0B6E8A"/>
          </a:solidFill>
          <a:ln w="12700" cap="flat" cmpd="sng">
            <a:solidFill>
              <a:srgbClr val="0B6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6035040" y="1078992"/>
            <a:ext cx="502920" cy="502920"/>
          </a:xfrm>
          <a:prstGeom prst="ellipse">
            <a:avLst/>
          </a:prstGeom>
          <a:solidFill>
            <a:srgbClr val="C8EEF7"/>
          </a:solidFill>
          <a:ln w="12700" cap="flat" cmpd="sng">
            <a:solidFill>
              <a:srgbClr val="C8EE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620" y="11475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6035040" y="1664208"/>
            <a:ext cx="238658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Why Causal Inference?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6035040" y="2212848"/>
            <a:ext cx="2404872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RCTs are costly, ethically challenging, and lack generalizability in ICU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Causal inference + MIMIC-IV leverages real-world data at scale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1A2E3B"/>
              </a:buClr>
              <a:buSzPts val="1000"/>
              <a:buFont typeface="Calibri"/>
              <a:buChar char="•"/>
            </a:pPr>
            <a:r>
              <a:rPr lang="en-US" sz="100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Advanced propensity methods mimic randomisation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137" y="281137"/>
            <a:ext cx="8637953" cy="16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6" b="1" spc="44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81137" y="506047"/>
            <a:ext cx="8708237" cy="281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1992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Clinical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1138" y="871527"/>
            <a:ext cx="8652009" cy="19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7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Cancer patients in ICU face a critical decision with uncertain optimal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81138" y="1208891"/>
            <a:ext cx="4224092" cy="1996077"/>
          </a:xfrm>
          <a:custGeom>
            <a:avLst/>
            <a:gdLst/>
            <a:ahLst/>
            <a:cxnLst/>
            <a:rect l="l" t="t" r="r" b="b"/>
            <a:pathLst>
              <a:path w="5632123" h="2661436">
                <a:moveTo>
                  <a:pt x="74973" y="0"/>
                </a:moveTo>
                <a:lnTo>
                  <a:pt x="5557150" y="0"/>
                </a:lnTo>
                <a:cubicBezTo>
                  <a:pt x="5598557" y="0"/>
                  <a:pt x="5632123" y="33566"/>
                  <a:pt x="5632123" y="74973"/>
                </a:cubicBezTo>
                <a:lnTo>
                  <a:pt x="5632123" y="2586463"/>
                </a:lnTo>
                <a:cubicBezTo>
                  <a:pt x="5632123" y="2627869"/>
                  <a:pt x="5598557" y="2661436"/>
                  <a:pt x="5557150" y="2661436"/>
                </a:cubicBezTo>
                <a:lnTo>
                  <a:pt x="74973" y="2661436"/>
                </a:lnTo>
                <a:cubicBezTo>
                  <a:pt x="33566" y="2661436"/>
                  <a:pt x="0" y="2627869"/>
                  <a:pt x="0" y="2586463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423463" y="1356489"/>
            <a:ext cx="263567" cy="210854"/>
          </a:xfrm>
          <a:custGeom>
            <a:avLst/>
            <a:gdLst/>
            <a:ahLst/>
            <a:cxnLst/>
            <a:rect l="l" t="t" r="r" b="b"/>
            <a:pathLst>
              <a:path w="351422" h="281138">
                <a:moveTo>
                  <a:pt x="291680" y="-12300"/>
                </a:moveTo>
                <a:lnTo>
                  <a:pt x="314083" y="17571"/>
                </a:lnTo>
                <a:lnTo>
                  <a:pt x="338244" y="17571"/>
                </a:lnTo>
                <a:cubicBezTo>
                  <a:pt x="345547" y="17571"/>
                  <a:pt x="351422" y="23446"/>
                  <a:pt x="351422" y="30749"/>
                </a:cubicBezTo>
                <a:cubicBezTo>
                  <a:pt x="351422" y="38052"/>
                  <a:pt x="345547" y="43928"/>
                  <a:pt x="338244" y="43928"/>
                </a:cubicBezTo>
                <a:lnTo>
                  <a:pt x="307494" y="43928"/>
                </a:lnTo>
                <a:cubicBezTo>
                  <a:pt x="303321" y="43928"/>
                  <a:pt x="299423" y="41951"/>
                  <a:pt x="296952" y="38656"/>
                </a:cubicBezTo>
                <a:lnTo>
                  <a:pt x="283718" y="21030"/>
                </a:lnTo>
                <a:lnTo>
                  <a:pt x="257911" y="75885"/>
                </a:lnTo>
                <a:cubicBezTo>
                  <a:pt x="255879" y="80168"/>
                  <a:pt x="251706" y="83078"/>
                  <a:pt x="246984" y="83408"/>
                </a:cubicBezTo>
                <a:cubicBezTo>
                  <a:pt x="242262" y="83737"/>
                  <a:pt x="237704" y="81541"/>
                  <a:pt x="235068" y="77587"/>
                </a:cubicBezTo>
                <a:lnTo>
                  <a:pt x="212610" y="43928"/>
                </a:lnTo>
                <a:lnTo>
                  <a:pt x="188889" y="43928"/>
                </a:lnTo>
                <a:cubicBezTo>
                  <a:pt x="181586" y="43928"/>
                  <a:pt x="175711" y="38052"/>
                  <a:pt x="175711" y="30749"/>
                </a:cubicBezTo>
                <a:cubicBezTo>
                  <a:pt x="175711" y="23446"/>
                  <a:pt x="181586" y="17571"/>
                  <a:pt x="188889" y="17571"/>
                </a:cubicBezTo>
                <a:lnTo>
                  <a:pt x="219639" y="17571"/>
                </a:lnTo>
                <a:cubicBezTo>
                  <a:pt x="224032" y="17571"/>
                  <a:pt x="228150" y="19767"/>
                  <a:pt x="230621" y="23446"/>
                </a:cubicBezTo>
                <a:lnTo>
                  <a:pt x="244019" y="43543"/>
                </a:lnTo>
                <a:lnTo>
                  <a:pt x="269222" y="-9994"/>
                </a:lnTo>
                <a:cubicBezTo>
                  <a:pt x="271199" y="-14167"/>
                  <a:pt x="275207" y="-17022"/>
                  <a:pt x="279820" y="-17516"/>
                </a:cubicBezTo>
                <a:cubicBezTo>
                  <a:pt x="284432" y="-18010"/>
                  <a:pt x="288935" y="-16034"/>
                  <a:pt x="291680" y="-12300"/>
                </a:cubicBezTo>
                <a:close/>
                <a:moveTo>
                  <a:pt x="175711" y="87855"/>
                </a:moveTo>
                <a:cubicBezTo>
                  <a:pt x="175711" y="78136"/>
                  <a:pt x="183563" y="70284"/>
                  <a:pt x="193282" y="70284"/>
                </a:cubicBezTo>
                <a:lnTo>
                  <a:pt x="198499" y="70284"/>
                </a:lnTo>
                <a:lnTo>
                  <a:pt x="213104" y="92193"/>
                </a:lnTo>
                <a:cubicBezTo>
                  <a:pt x="221011" y="104054"/>
                  <a:pt x="234684" y="110753"/>
                  <a:pt x="248906" y="109710"/>
                </a:cubicBezTo>
                <a:cubicBezTo>
                  <a:pt x="263127" y="108666"/>
                  <a:pt x="275702" y="100045"/>
                  <a:pt x="281742" y="87142"/>
                </a:cubicBezTo>
                <a:lnTo>
                  <a:pt x="289374" y="70943"/>
                </a:lnTo>
                <a:cubicBezTo>
                  <a:pt x="314578" y="74897"/>
                  <a:pt x="333851" y="96696"/>
                  <a:pt x="333851" y="122998"/>
                </a:cubicBezTo>
                <a:lnTo>
                  <a:pt x="333851" y="245995"/>
                </a:lnTo>
                <a:cubicBezTo>
                  <a:pt x="333851" y="255714"/>
                  <a:pt x="325999" y="263566"/>
                  <a:pt x="316280" y="263566"/>
                </a:cubicBezTo>
                <a:cubicBezTo>
                  <a:pt x="306561" y="263566"/>
                  <a:pt x="298709" y="255714"/>
                  <a:pt x="298709" y="245995"/>
                </a:cubicBezTo>
                <a:lnTo>
                  <a:pt x="298709" y="210853"/>
                </a:lnTo>
                <a:lnTo>
                  <a:pt x="52713" y="210853"/>
                </a:lnTo>
                <a:lnTo>
                  <a:pt x="52713" y="245995"/>
                </a:lnTo>
                <a:cubicBezTo>
                  <a:pt x="52713" y="255714"/>
                  <a:pt x="44861" y="263566"/>
                  <a:pt x="35142" y="263566"/>
                </a:cubicBezTo>
                <a:cubicBezTo>
                  <a:pt x="25423" y="263566"/>
                  <a:pt x="17571" y="255714"/>
                  <a:pt x="17571" y="245995"/>
                </a:cubicBezTo>
                <a:lnTo>
                  <a:pt x="17571" y="35142"/>
                </a:lnTo>
                <a:cubicBezTo>
                  <a:pt x="17571" y="25423"/>
                  <a:pt x="25423" y="17571"/>
                  <a:pt x="35142" y="17571"/>
                </a:cubicBezTo>
                <a:cubicBezTo>
                  <a:pt x="44861" y="17571"/>
                  <a:pt x="52713" y="25423"/>
                  <a:pt x="52713" y="35142"/>
                </a:cubicBezTo>
                <a:lnTo>
                  <a:pt x="52713" y="158140"/>
                </a:lnTo>
                <a:lnTo>
                  <a:pt x="175711" y="158140"/>
                </a:lnTo>
                <a:lnTo>
                  <a:pt x="175711" y="87855"/>
                </a:lnTo>
                <a:close/>
                <a:moveTo>
                  <a:pt x="79070" y="105427"/>
                </a:moveTo>
                <a:cubicBezTo>
                  <a:pt x="79070" y="86031"/>
                  <a:pt x="94817" y="70284"/>
                  <a:pt x="114212" y="70284"/>
                </a:cubicBezTo>
                <a:cubicBezTo>
                  <a:pt x="133608" y="70284"/>
                  <a:pt x="149354" y="86031"/>
                  <a:pt x="149354" y="105427"/>
                </a:cubicBezTo>
                <a:cubicBezTo>
                  <a:pt x="149354" y="124822"/>
                  <a:pt x="133608" y="140569"/>
                  <a:pt x="114212" y="140569"/>
                </a:cubicBezTo>
                <a:cubicBezTo>
                  <a:pt x="94817" y="140569"/>
                  <a:pt x="79070" y="124822"/>
                  <a:pt x="79070" y="105427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769614" y="1349461"/>
            <a:ext cx="288868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Invasive Mechanical Ventilation (IMV)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1707" y="1686826"/>
            <a:ext cx="3999182" cy="16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6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Approach:</a:t>
            </a:r>
            <a:r>
              <a:rPr lang="en-US" sz="88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Endotracheal intubation or tracheostomy with mechanical ventilation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1707" y="1939849"/>
            <a:ext cx="3999182" cy="16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6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Benefits:</a:t>
            </a:r>
            <a:r>
              <a:rPr lang="en-US" sz="88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Definitive airway control, reliable oxygenation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1707" y="2192874"/>
            <a:ext cx="3942955" cy="871526"/>
          </a:xfrm>
          <a:custGeom>
            <a:avLst/>
            <a:gdLst/>
            <a:ahLst/>
            <a:cxnLst/>
            <a:rect l="l" t="t" r="r" b="b"/>
            <a:pathLst>
              <a:path w="5257273" h="1162035">
                <a:moveTo>
                  <a:pt x="37487" y="0"/>
                </a:moveTo>
                <a:lnTo>
                  <a:pt x="5219786" y="0"/>
                </a:lnTo>
                <a:cubicBezTo>
                  <a:pt x="5240489" y="0"/>
                  <a:pt x="5257273" y="16784"/>
                  <a:pt x="5257273" y="37487"/>
                </a:cubicBezTo>
                <a:lnTo>
                  <a:pt x="5257273" y="1124548"/>
                </a:lnTo>
                <a:cubicBezTo>
                  <a:pt x="5257273" y="1145252"/>
                  <a:pt x="5240489" y="1162035"/>
                  <a:pt x="5219786" y="1162035"/>
                </a:cubicBezTo>
                <a:lnTo>
                  <a:pt x="37487" y="1162035"/>
                </a:lnTo>
                <a:cubicBezTo>
                  <a:pt x="16784" y="1162035"/>
                  <a:pt x="0" y="1145252"/>
                  <a:pt x="0" y="1124548"/>
                </a:cubicBezTo>
                <a:lnTo>
                  <a:pt x="0" y="37487"/>
                </a:lnTo>
                <a:cubicBezTo>
                  <a:pt x="0" y="16797"/>
                  <a:pt x="16797" y="0"/>
                  <a:pt x="3748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06048" y="2277214"/>
            <a:ext cx="3830500" cy="16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6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Risks &amp; Complications: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6047" y="2502125"/>
            <a:ext cx="3823472" cy="140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Ventilator-associated pneumonia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6047" y="2670807"/>
            <a:ext cx="3823472" cy="140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Ventilator-induced lung injury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6047" y="2839490"/>
            <a:ext cx="3823472" cy="140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Sedation-related complications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1138" y="3317423"/>
            <a:ext cx="4224092" cy="1658712"/>
          </a:xfrm>
          <a:custGeom>
            <a:avLst/>
            <a:gdLst/>
            <a:ahLst/>
            <a:cxnLst/>
            <a:rect l="l" t="t" r="r" b="b"/>
            <a:pathLst>
              <a:path w="5632123" h="2211616">
                <a:moveTo>
                  <a:pt x="74974" y="0"/>
                </a:moveTo>
                <a:lnTo>
                  <a:pt x="5557149" y="0"/>
                </a:lnTo>
                <a:cubicBezTo>
                  <a:pt x="5598556" y="0"/>
                  <a:pt x="5632123" y="33567"/>
                  <a:pt x="5632123" y="74974"/>
                </a:cubicBezTo>
                <a:lnTo>
                  <a:pt x="5632123" y="2136642"/>
                </a:lnTo>
                <a:cubicBezTo>
                  <a:pt x="5632123" y="2178049"/>
                  <a:pt x="5598556" y="2211616"/>
                  <a:pt x="5557149" y="2211616"/>
                </a:cubicBezTo>
                <a:lnTo>
                  <a:pt x="74974" y="2211616"/>
                </a:lnTo>
                <a:cubicBezTo>
                  <a:pt x="33567" y="2211616"/>
                  <a:pt x="0" y="2178049"/>
                  <a:pt x="0" y="2136642"/>
                </a:cubicBezTo>
                <a:lnTo>
                  <a:pt x="0" y="74974"/>
                </a:lnTo>
                <a:cubicBezTo>
                  <a:pt x="0" y="33595"/>
                  <a:pt x="33595" y="0"/>
                  <a:pt x="74974" y="0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36642" y="3465021"/>
            <a:ext cx="237210" cy="210854"/>
          </a:xfrm>
          <a:custGeom>
            <a:avLst/>
            <a:gdLst/>
            <a:ahLst/>
            <a:cxnLst/>
            <a:rect l="l" t="t" r="r" b="b"/>
            <a:pathLst>
              <a:path w="316280" h="281138">
                <a:moveTo>
                  <a:pt x="175711" y="17571"/>
                </a:moveTo>
                <a:cubicBezTo>
                  <a:pt x="175711" y="7852"/>
                  <a:pt x="167859" y="0"/>
                  <a:pt x="158140" y="0"/>
                </a:cubicBezTo>
                <a:cubicBezTo>
                  <a:pt x="148421" y="0"/>
                  <a:pt x="140569" y="7852"/>
                  <a:pt x="140569" y="17571"/>
                </a:cubicBezTo>
                <a:lnTo>
                  <a:pt x="140569" y="95488"/>
                </a:lnTo>
                <a:lnTo>
                  <a:pt x="122998" y="106031"/>
                </a:lnTo>
                <a:lnTo>
                  <a:pt x="122998" y="41951"/>
                </a:lnTo>
                <a:cubicBezTo>
                  <a:pt x="122998" y="28498"/>
                  <a:pt x="112071" y="17571"/>
                  <a:pt x="98618" y="17571"/>
                </a:cubicBezTo>
                <a:cubicBezTo>
                  <a:pt x="91754" y="17571"/>
                  <a:pt x="85220" y="20481"/>
                  <a:pt x="80607" y="25533"/>
                </a:cubicBezTo>
                <a:lnTo>
                  <a:pt x="66111" y="41457"/>
                </a:lnTo>
                <a:cubicBezTo>
                  <a:pt x="23556" y="88295"/>
                  <a:pt x="0" y="149245"/>
                  <a:pt x="0" y="212500"/>
                </a:cubicBezTo>
                <a:lnTo>
                  <a:pt x="0" y="229248"/>
                </a:lnTo>
                <a:cubicBezTo>
                  <a:pt x="0" y="257911"/>
                  <a:pt x="23227" y="281138"/>
                  <a:pt x="51890" y="281138"/>
                </a:cubicBezTo>
                <a:cubicBezTo>
                  <a:pt x="63970" y="281138"/>
                  <a:pt x="75885" y="278337"/>
                  <a:pt x="86702" y="272901"/>
                </a:cubicBezTo>
                <a:lnTo>
                  <a:pt x="89448" y="271528"/>
                </a:lnTo>
                <a:cubicBezTo>
                  <a:pt x="109984" y="261260"/>
                  <a:pt x="122943" y="240285"/>
                  <a:pt x="122943" y="217278"/>
                </a:cubicBezTo>
                <a:lnTo>
                  <a:pt x="122943" y="146993"/>
                </a:lnTo>
                <a:lnTo>
                  <a:pt x="158085" y="125908"/>
                </a:lnTo>
                <a:lnTo>
                  <a:pt x="193227" y="146993"/>
                </a:lnTo>
                <a:lnTo>
                  <a:pt x="193227" y="217278"/>
                </a:lnTo>
                <a:cubicBezTo>
                  <a:pt x="193227" y="240230"/>
                  <a:pt x="206186" y="261260"/>
                  <a:pt x="226722" y="271528"/>
                </a:cubicBezTo>
                <a:lnTo>
                  <a:pt x="229468" y="272901"/>
                </a:lnTo>
                <a:cubicBezTo>
                  <a:pt x="240285" y="278282"/>
                  <a:pt x="252200" y="281138"/>
                  <a:pt x="264280" y="281138"/>
                </a:cubicBezTo>
                <a:cubicBezTo>
                  <a:pt x="292943" y="281138"/>
                  <a:pt x="316170" y="257911"/>
                  <a:pt x="316170" y="229248"/>
                </a:cubicBezTo>
                <a:lnTo>
                  <a:pt x="316170" y="225844"/>
                </a:lnTo>
                <a:cubicBezTo>
                  <a:pt x="316170" y="164839"/>
                  <a:pt x="296018" y="105591"/>
                  <a:pt x="258844" y="57271"/>
                </a:cubicBezTo>
                <a:lnTo>
                  <a:pt x="235508" y="26741"/>
                </a:lnTo>
                <a:cubicBezTo>
                  <a:pt x="231060" y="20921"/>
                  <a:pt x="224141" y="17571"/>
                  <a:pt x="216838" y="17571"/>
                </a:cubicBezTo>
                <a:cubicBezTo>
                  <a:pt x="203825" y="17571"/>
                  <a:pt x="193282" y="28114"/>
                  <a:pt x="193282" y="41127"/>
                </a:cubicBezTo>
                <a:lnTo>
                  <a:pt x="193282" y="106031"/>
                </a:lnTo>
                <a:lnTo>
                  <a:pt x="175711" y="95488"/>
                </a:lnTo>
                <a:lnTo>
                  <a:pt x="175711" y="1757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769614" y="3457992"/>
            <a:ext cx="266377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2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Non-Invasive Support (NIV/HFNC)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1707" y="3795358"/>
            <a:ext cx="3999182" cy="16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Approach:</a:t>
            </a:r>
            <a:r>
              <a:rPr lang="en-US" sz="88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High-flow nasal cannula or CPAP/BiPAP without intubation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1707" y="4048381"/>
            <a:ext cx="3999182" cy="16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Potential Benefits:</a:t>
            </a:r>
            <a:r>
              <a:rPr lang="en-US" sz="88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Reduced intubation rates in select populations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1707" y="4301406"/>
            <a:ext cx="3942955" cy="534161"/>
          </a:xfrm>
          <a:custGeom>
            <a:avLst/>
            <a:gdLst/>
            <a:ahLst/>
            <a:cxnLst/>
            <a:rect l="l" t="t" r="r" b="b"/>
            <a:pathLst>
              <a:path w="5257273" h="712215">
                <a:moveTo>
                  <a:pt x="37484" y="0"/>
                </a:moveTo>
                <a:lnTo>
                  <a:pt x="5219789" y="0"/>
                </a:lnTo>
                <a:cubicBezTo>
                  <a:pt x="5240491" y="0"/>
                  <a:pt x="5257273" y="16782"/>
                  <a:pt x="5257273" y="37484"/>
                </a:cubicBezTo>
                <a:lnTo>
                  <a:pt x="5257273" y="674731"/>
                </a:lnTo>
                <a:cubicBezTo>
                  <a:pt x="5257273" y="695433"/>
                  <a:pt x="5240491" y="712215"/>
                  <a:pt x="5219789" y="712215"/>
                </a:cubicBezTo>
                <a:lnTo>
                  <a:pt x="37484" y="712215"/>
                </a:lnTo>
                <a:cubicBezTo>
                  <a:pt x="16782" y="712215"/>
                  <a:pt x="0" y="695433"/>
                  <a:pt x="0" y="674731"/>
                </a:cubicBezTo>
                <a:lnTo>
                  <a:pt x="0" y="37484"/>
                </a:lnTo>
                <a:cubicBezTo>
                  <a:pt x="0" y="16796"/>
                  <a:pt x="16796" y="0"/>
                  <a:pt x="3748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06048" y="4385746"/>
            <a:ext cx="3830500" cy="16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Concern: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6047" y="4610657"/>
            <a:ext cx="3823472" cy="140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intubation following non-invasive failure may worsen outcomes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57495" y="1208891"/>
            <a:ext cx="4210035" cy="1110494"/>
          </a:xfrm>
          <a:custGeom>
            <a:avLst/>
            <a:gdLst/>
            <a:ahLst/>
            <a:cxnLst/>
            <a:rect l="l" t="t" r="r" b="b"/>
            <a:pathLst>
              <a:path w="5613380" h="1480658">
                <a:moveTo>
                  <a:pt x="0" y="0"/>
                </a:moveTo>
                <a:lnTo>
                  <a:pt x="5538415" y="0"/>
                </a:lnTo>
                <a:cubicBezTo>
                  <a:pt x="5579817" y="0"/>
                  <a:pt x="5613380" y="33563"/>
                  <a:pt x="5613380" y="74966"/>
                </a:cubicBezTo>
                <a:lnTo>
                  <a:pt x="5613380" y="1405692"/>
                </a:lnTo>
                <a:cubicBezTo>
                  <a:pt x="5613380" y="1447095"/>
                  <a:pt x="5579817" y="1480658"/>
                  <a:pt x="5538415" y="1480658"/>
                </a:cubicBezTo>
                <a:lnTo>
                  <a:pt x="0" y="1480658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657495" y="1208891"/>
            <a:ext cx="28114" cy="1110494"/>
          </a:xfrm>
          <a:custGeom>
            <a:avLst/>
            <a:gdLst/>
            <a:ahLst/>
            <a:cxnLst/>
            <a:rect l="l" t="t" r="r" b="b"/>
            <a:pathLst>
              <a:path w="37485" h="1480658">
                <a:moveTo>
                  <a:pt x="0" y="0"/>
                </a:moveTo>
                <a:lnTo>
                  <a:pt x="37485" y="0"/>
                </a:lnTo>
                <a:lnTo>
                  <a:pt x="37485" y="1480658"/>
                </a:lnTo>
                <a:lnTo>
                  <a:pt x="0" y="1480658"/>
                </a:lnTo>
                <a:lnTo>
                  <a:pt x="0" y="0"/>
                </a:ln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4829691" y="1377575"/>
            <a:ext cx="140569" cy="140569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93713" y="0"/>
                </a:moveTo>
                <a:cubicBezTo>
                  <a:pt x="99094" y="0"/>
                  <a:pt x="104036" y="2965"/>
                  <a:pt x="106598" y="7687"/>
                </a:cubicBezTo>
                <a:lnTo>
                  <a:pt x="185668" y="154113"/>
                </a:lnTo>
                <a:cubicBezTo>
                  <a:pt x="188121" y="158652"/>
                  <a:pt x="188011" y="164143"/>
                  <a:pt x="185375" y="168573"/>
                </a:cubicBezTo>
                <a:cubicBezTo>
                  <a:pt x="182739" y="173002"/>
                  <a:pt x="177944" y="175711"/>
                  <a:pt x="172782" y="175711"/>
                </a:cubicBezTo>
                <a:lnTo>
                  <a:pt x="14643" y="175711"/>
                </a:lnTo>
                <a:cubicBezTo>
                  <a:pt x="9481" y="175711"/>
                  <a:pt x="4722" y="173002"/>
                  <a:pt x="2050" y="168573"/>
                </a:cubicBezTo>
                <a:cubicBezTo>
                  <a:pt x="-622" y="164143"/>
                  <a:pt x="-696" y="158652"/>
                  <a:pt x="1757" y="154113"/>
                </a:cubicBezTo>
                <a:lnTo>
                  <a:pt x="80827" y="7687"/>
                </a:lnTo>
                <a:cubicBezTo>
                  <a:pt x="83390" y="2965"/>
                  <a:pt x="88331" y="0"/>
                  <a:pt x="93713" y="0"/>
                </a:cubicBezTo>
                <a:close/>
                <a:moveTo>
                  <a:pt x="93713" y="61499"/>
                </a:moveTo>
                <a:cubicBezTo>
                  <a:pt x="88844" y="61499"/>
                  <a:pt x="84927" y="65416"/>
                  <a:pt x="84927" y="70284"/>
                </a:cubicBezTo>
                <a:lnTo>
                  <a:pt x="84927" y="111284"/>
                </a:lnTo>
                <a:cubicBezTo>
                  <a:pt x="84927" y="116152"/>
                  <a:pt x="88844" y="120069"/>
                  <a:pt x="93713" y="120069"/>
                </a:cubicBezTo>
                <a:cubicBezTo>
                  <a:pt x="98581" y="120069"/>
                  <a:pt x="102498" y="116152"/>
                  <a:pt x="102498" y="111284"/>
                </a:cubicBezTo>
                <a:lnTo>
                  <a:pt x="102498" y="70284"/>
                </a:lnTo>
                <a:cubicBezTo>
                  <a:pt x="102498" y="65416"/>
                  <a:pt x="98581" y="61499"/>
                  <a:pt x="93713" y="61499"/>
                </a:cubicBezTo>
                <a:close/>
                <a:moveTo>
                  <a:pt x="103486" y="140569"/>
                </a:moveTo>
                <a:cubicBezTo>
                  <a:pt x="103709" y="136941"/>
                  <a:pt x="101900" y="133489"/>
                  <a:pt x="98789" y="131608"/>
                </a:cubicBezTo>
                <a:cubicBezTo>
                  <a:pt x="95679" y="129727"/>
                  <a:pt x="91782" y="129727"/>
                  <a:pt x="88672" y="131608"/>
                </a:cubicBezTo>
                <a:cubicBezTo>
                  <a:pt x="85562" y="133489"/>
                  <a:pt x="83753" y="136941"/>
                  <a:pt x="83975" y="140569"/>
                </a:cubicBezTo>
                <a:cubicBezTo>
                  <a:pt x="83753" y="144197"/>
                  <a:pt x="85562" y="147648"/>
                  <a:pt x="88672" y="149530"/>
                </a:cubicBezTo>
                <a:cubicBezTo>
                  <a:pt x="91782" y="151411"/>
                  <a:pt x="95679" y="151411"/>
                  <a:pt x="98789" y="149530"/>
                </a:cubicBezTo>
                <a:cubicBezTo>
                  <a:pt x="101900" y="147648"/>
                  <a:pt x="103709" y="144197"/>
                  <a:pt x="103486" y="140569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4987831" y="1349461"/>
            <a:ext cx="3809414" cy="19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7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Complex Trade-off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2120" y="1630598"/>
            <a:ext cx="3971069" cy="548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86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Avoiding IMV</a:t>
            </a:r>
            <a:r>
              <a:rPr lang="en-US" sz="88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may reduce ventilation-related complications, but </a:t>
            </a:r>
            <a:r>
              <a:rPr lang="en-US" sz="886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delayed intubation</a:t>
            </a:r>
            <a:r>
              <a:rPr lang="en-US" sz="88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following unsuccessful non-invasive support may worsen outcomes. The optimal initial strategy remains uncertain.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57495" y="2431840"/>
            <a:ext cx="4210035" cy="1405688"/>
          </a:xfrm>
          <a:custGeom>
            <a:avLst/>
            <a:gdLst/>
            <a:ahLst/>
            <a:cxnLst/>
            <a:rect l="l" t="t" r="r" b="b"/>
            <a:pathLst>
              <a:path w="5613380" h="1874251">
                <a:moveTo>
                  <a:pt x="0" y="0"/>
                </a:moveTo>
                <a:lnTo>
                  <a:pt x="5538410" y="0"/>
                </a:lnTo>
                <a:cubicBezTo>
                  <a:pt x="5579815" y="0"/>
                  <a:pt x="5613380" y="33565"/>
                  <a:pt x="5613380" y="74970"/>
                </a:cubicBezTo>
                <a:lnTo>
                  <a:pt x="5613380" y="1799281"/>
                </a:lnTo>
                <a:cubicBezTo>
                  <a:pt x="5613380" y="1840685"/>
                  <a:pt x="5579815" y="1874251"/>
                  <a:pt x="5538410" y="1874251"/>
                </a:cubicBezTo>
                <a:lnTo>
                  <a:pt x="0" y="1874251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4657495" y="2431840"/>
            <a:ext cx="28114" cy="1405688"/>
          </a:xfrm>
          <a:custGeom>
            <a:avLst/>
            <a:gdLst/>
            <a:ahLst/>
            <a:cxnLst/>
            <a:rect l="l" t="t" r="r" b="b"/>
            <a:pathLst>
              <a:path w="37485" h="1874251">
                <a:moveTo>
                  <a:pt x="0" y="0"/>
                </a:moveTo>
                <a:lnTo>
                  <a:pt x="37485" y="0"/>
                </a:lnTo>
                <a:lnTo>
                  <a:pt x="37485" y="1874251"/>
                </a:lnTo>
                <a:lnTo>
                  <a:pt x="0" y="1874251"/>
                </a:lnTo>
                <a:lnTo>
                  <a:pt x="0" y="0"/>
                </a:ln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4838477" y="2600523"/>
            <a:ext cx="122998" cy="140569"/>
          </a:xfrm>
          <a:custGeom>
            <a:avLst/>
            <a:gdLst/>
            <a:ahLst/>
            <a:cxnLst/>
            <a:rect l="l" t="t" r="r" b="b"/>
            <a:pathLst>
              <a:path w="163997" h="187425">
                <a:moveTo>
                  <a:pt x="88844" y="29285"/>
                </a:moveTo>
                <a:lnTo>
                  <a:pt x="122266" y="29285"/>
                </a:lnTo>
                <a:cubicBezTo>
                  <a:pt x="118349" y="20280"/>
                  <a:pt x="111467" y="12849"/>
                  <a:pt x="102901" y="8200"/>
                </a:cubicBezTo>
                <a:lnTo>
                  <a:pt x="88844" y="29285"/>
                </a:lnTo>
                <a:close/>
                <a:moveTo>
                  <a:pt x="88514" y="3404"/>
                </a:moveTo>
                <a:cubicBezTo>
                  <a:pt x="86391" y="3075"/>
                  <a:pt x="84195" y="2929"/>
                  <a:pt x="81998" y="2929"/>
                </a:cubicBezTo>
                <a:cubicBezTo>
                  <a:pt x="63988" y="2929"/>
                  <a:pt x="48504" y="13764"/>
                  <a:pt x="41731" y="29285"/>
                </a:cubicBezTo>
                <a:lnTo>
                  <a:pt x="71236" y="29285"/>
                </a:lnTo>
                <a:lnTo>
                  <a:pt x="88478" y="3404"/>
                </a:lnTo>
                <a:close/>
                <a:moveTo>
                  <a:pt x="81998" y="90784"/>
                </a:moveTo>
                <a:cubicBezTo>
                  <a:pt x="106269" y="90784"/>
                  <a:pt x="125926" y="71126"/>
                  <a:pt x="125926" y="46856"/>
                </a:cubicBezTo>
                <a:lnTo>
                  <a:pt x="38071" y="46856"/>
                </a:lnTo>
                <a:cubicBezTo>
                  <a:pt x="38071" y="71126"/>
                  <a:pt x="57728" y="90784"/>
                  <a:pt x="81998" y="90784"/>
                </a:cubicBezTo>
                <a:close/>
                <a:moveTo>
                  <a:pt x="36131" y="125121"/>
                </a:moveTo>
                <a:cubicBezTo>
                  <a:pt x="18047" y="135517"/>
                  <a:pt x="5857" y="155028"/>
                  <a:pt x="5857" y="177395"/>
                </a:cubicBezTo>
                <a:cubicBezTo>
                  <a:pt x="5857" y="182922"/>
                  <a:pt x="10360" y="187425"/>
                  <a:pt x="15887" y="187425"/>
                </a:cubicBezTo>
                <a:lnTo>
                  <a:pt x="71163" y="187425"/>
                </a:lnTo>
                <a:lnTo>
                  <a:pt x="36094" y="125121"/>
                </a:lnTo>
                <a:close/>
                <a:moveTo>
                  <a:pt x="52640" y="118642"/>
                </a:moveTo>
                <a:lnTo>
                  <a:pt x="68271" y="146426"/>
                </a:lnTo>
                <a:lnTo>
                  <a:pt x="99570" y="146426"/>
                </a:lnTo>
                <a:cubicBezTo>
                  <a:pt x="115750" y="146426"/>
                  <a:pt x="128855" y="159531"/>
                  <a:pt x="128855" y="175711"/>
                </a:cubicBezTo>
                <a:cubicBezTo>
                  <a:pt x="128855" y="179884"/>
                  <a:pt x="127976" y="183838"/>
                  <a:pt x="126402" y="187425"/>
                </a:cubicBezTo>
                <a:lnTo>
                  <a:pt x="148073" y="187425"/>
                </a:lnTo>
                <a:cubicBezTo>
                  <a:pt x="153601" y="187425"/>
                  <a:pt x="158103" y="182922"/>
                  <a:pt x="158103" y="177395"/>
                </a:cubicBezTo>
                <a:cubicBezTo>
                  <a:pt x="158103" y="144120"/>
                  <a:pt x="131124" y="117141"/>
                  <a:pt x="97849" y="117141"/>
                </a:cubicBezTo>
                <a:lnTo>
                  <a:pt x="66038" y="117141"/>
                </a:lnTo>
                <a:cubicBezTo>
                  <a:pt x="61426" y="117141"/>
                  <a:pt x="56923" y="117653"/>
                  <a:pt x="52603" y="118642"/>
                </a:cubicBezTo>
                <a:close/>
                <a:moveTo>
                  <a:pt x="78155" y="163997"/>
                </a:moveTo>
                <a:lnTo>
                  <a:pt x="91333" y="187425"/>
                </a:lnTo>
                <a:lnTo>
                  <a:pt x="99570" y="187425"/>
                </a:lnTo>
                <a:cubicBezTo>
                  <a:pt x="106049" y="187425"/>
                  <a:pt x="111284" y="182190"/>
                  <a:pt x="111284" y="175711"/>
                </a:cubicBezTo>
                <a:cubicBezTo>
                  <a:pt x="111284" y="169232"/>
                  <a:pt x="106049" y="163997"/>
                  <a:pt x="99570" y="163997"/>
                </a:cubicBezTo>
                <a:lnTo>
                  <a:pt x="78155" y="163997"/>
                </a:ln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4987831" y="2572410"/>
            <a:ext cx="3809414" cy="196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7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Cancer ICU Population Complexity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26177" y="2881661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008917" y="2853547"/>
            <a:ext cx="3658613" cy="16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Respiratory failure is a leading cause of ICU admission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26177" y="3106571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5008917" y="3078457"/>
            <a:ext cx="3658613" cy="16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Varying degrees of immunosuppression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26177" y="3331481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5008916" y="3303367"/>
            <a:ext cx="3658613" cy="16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 dysfunction and treatment-related complications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26177" y="3556391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5008917" y="3528277"/>
            <a:ext cx="3658613" cy="16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86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Clinically heterogeneous outcomes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43438" y="4582543"/>
            <a:ext cx="4224092" cy="393593"/>
          </a:xfrm>
          <a:custGeom>
            <a:avLst/>
            <a:gdLst/>
            <a:ahLst/>
            <a:cxnLst/>
            <a:rect l="l" t="t" r="r" b="b"/>
            <a:pathLst>
              <a:path w="5632123" h="524790">
                <a:moveTo>
                  <a:pt x="74972" y="0"/>
                </a:moveTo>
                <a:lnTo>
                  <a:pt x="5557151" y="0"/>
                </a:lnTo>
                <a:cubicBezTo>
                  <a:pt x="5598557" y="0"/>
                  <a:pt x="5632123" y="33566"/>
                  <a:pt x="5632123" y="74972"/>
                </a:cubicBezTo>
                <a:lnTo>
                  <a:pt x="5632123" y="449819"/>
                </a:lnTo>
                <a:cubicBezTo>
                  <a:pt x="5632123" y="491224"/>
                  <a:pt x="5598557" y="524790"/>
                  <a:pt x="5557151" y="524790"/>
                </a:cubicBezTo>
                <a:lnTo>
                  <a:pt x="74972" y="524790"/>
                </a:lnTo>
                <a:cubicBezTo>
                  <a:pt x="33594" y="524790"/>
                  <a:pt x="0" y="491197"/>
                  <a:pt x="0" y="44981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C75B39">
              <a:alpha val="10196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5193852" y="4719597"/>
            <a:ext cx="112455" cy="112455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74970" y="51542"/>
                </a:moveTo>
                <a:cubicBezTo>
                  <a:pt x="69787" y="51542"/>
                  <a:pt x="65599" y="55730"/>
                  <a:pt x="65599" y="60913"/>
                </a:cubicBezTo>
                <a:cubicBezTo>
                  <a:pt x="65599" y="64808"/>
                  <a:pt x="62465" y="67942"/>
                  <a:pt x="58570" y="67942"/>
                </a:cubicBezTo>
                <a:cubicBezTo>
                  <a:pt x="54675" y="67942"/>
                  <a:pt x="51542" y="64808"/>
                  <a:pt x="51542" y="60913"/>
                </a:cubicBezTo>
                <a:cubicBezTo>
                  <a:pt x="51542" y="47969"/>
                  <a:pt x="62026" y="37485"/>
                  <a:pt x="74970" y="37485"/>
                </a:cubicBezTo>
                <a:cubicBezTo>
                  <a:pt x="87914" y="37485"/>
                  <a:pt x="98398" y="47969"/>
                  <a:pt x="98398" y="60913"/>
                </a:cubicBezTo>
                <a:cubicBezTo>
                  <a:pt x="98398" y="74736"/>
                  <a:pt x="87855" y="80593"/>
                  <a:pt x="81998" y="82731"/>
                </a:cubicBezTo>
                <a:lnTo>
                  <a:pt x="81998" y="83843"/>
                </a:lnTo>
                <a:cubicBezTo>
                  <a:pt x="81998" y="87738"/>
                  <a:pt x="78865" y="90872"/>
                  <a:pt x="74970" y="90872"/>
                </a:cubicBezTo>
                <a:cubicBezTo>
                  <a:pt x="71075" y="90872"/>
                  <a:pt x="67942" y="87738"/>
                  <a:pt x="67942" y="83843"/>
                </a:cubicBezTo>
                <a:lnTo>
                  <a:pt x="67942" y="81471"/>
                </a:lnTo>
                <a:cubicBezTo>
                  <a:pt x="67942" y="75468"/>
                  <a:pt x="72276" y="71163"/>
                  <a:pt x="76756" y="69699"/>
                </a:cubicBezTo>
                <a:cubicBezTo>
                  <a:pt x="78631" y="69084"/>
                  <a:pt x="80622" y="68088"/>
                  <a:pt x="82086" y="66682"/>
                </a:cubicBezTo>
                <a:cubicBezTo>
                  <a:pt x="83346" y="65452"/>
                  <a:pt x="84341" y="63754"/>
                  <a:pt x="84341" y="60942"/>
                </a:cubicBezTo>
                <a:cubicBezTo>
                  <a:pt x="84341" y="55759"/>
                  <a:pt x="80153" y="51571"/>
                  <a:pt x="74970" y="51571"/>
                </a:cubicBezTo>
                <a:close/>
                <a:moveTo>
                  <a:pt x="65599" y="107769"/>
                </a:moveTo>
                <a:cubicBezTo>
                  <a:pt x="65599" y="102597"/>
                  <a:pt x="69798" y="98398"/>
                  <a:pt x="74970" y="98398"/>
                </a:cubicBezTo>
                <a:cubicBezTo>
                  <a:pt x="80142" y="98398"/>
                  <a:pt x="84341" y="102597"/>
                  <a:pt x="84341" y="107769"/>
                </a:cubicBezTo>
                <a:cubicBezTo>
                  <a:pt x="84341" y="112942"/>
                  <a:pt x="80142" y="117141"/>
                  <a:pt x="74970" y="117141"/>
                </a:cubicBezTo>
                <a:cubicBezTo>
                  <a:pt x="69798" y="117141"/>
                  <a:pt x="65599" y="112942"/>
                  <a:pt x="65599" y="107769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4909838" y="4694998"/>
            <a:ext cx="3873351" cy="168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86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Which initial respiratory support strategy improves survival?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320040" y="365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B4CC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4A90A4"/>
                </a:solidFill>
                <a:latin typeface="Calibri"/>
                <a:ea typeface="Calibri"/>
                <a:cs typeface="Calibri"/>
                <a:sym typeface="Calibri"/>
              </a:rPr>
              <a:t>RESEARCH AIMS &amp; FRAMEWORK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320040" y="310896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Objectives &amp; PICO Framework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347472" y="896112"/>
            <a:ext cx="8449056" cy="749808"/>
          </a:xfrm>
          <a:prstGeom prst="rect">
            <a:avLst/>
          </a:prstGeom>
          <a:solidFill>
            <a:srgbClr val="0D2137"/>
          </a:solidFill>
          <a:ln w="25400" cap="flat" cmpd="sng">
            <a:solidFill>
              <a:srgbClr val="0B6E8A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475488" y="896112"/>
            <a:ext cx="13258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8B4CC"/>
              </a:buClr>
              <a:buSzPts val="1050"/>
              <a:buFont typeface="Calibri"/>
              <a:buNone/>
            </a:pPr>
            <a:r>
              <a:rPr lang="en-US" sz="1050" b="1">
                <a:solidFill>
                  <a:srgbClr val="18B4CC"/>
                </a:solidFill>
                <a:latin typeface="Calibri"/>
                <a:ea typeface="Calibri"/>
                <a:cs typeface="Calibri"/>
                <a:sym typeface="Calibri"/>
              </a:rPr>
              <a:t>Primary Question: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1755648" y="896112"/>
            <a:ext cx="685800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Among adult malignant cancer patients admitted to the ICU requiring respiratory support, what is the causal effect of initial IMV compared with HFNC or NIV/BiPAP on 28-day all-cause mortality?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347472" y="1755648"/>
            <a:ext cx="2011680" cy="2743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347472" y="1755648"/>
            <a:ext cx="2011680" cy="566928"/>
          </a:xfrm>
          <a:prstGeom prst="rect">
            <a:avLst/>
          </a:prstGeom>
          <a:solidFill>
            <a:srgbClr val="0D2137"/>
          </a:solidFill>
          <a:ln w="12700" cap="flat" cmpd="sng">
            <a:solidFill>
              <a:srgbClr val="0D21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438912" y="1755648"/>
            <a:ext cx="47548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932688" y="1755648"/>
            <a:ext cx="13533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Population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438912" y="2414016"/>
            <a:ext cx="1847088" cy="199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Adults ≥18 years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Confirmed malignant cancer (solid or haematological)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First ICU admission, index hospitalisation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Required respiratory support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2468880" y="1755648"/>
            <a:ext cx="2011680" cy="2743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2468880" y="1755648"/>
            <a:ext cx="2011680" cy="566928"/>
          </a:xfrm>
          <a:prstGeom prst="rect">
            <a:avLst/>
          </a:prstGeom>
          <a:solidFill>
            <a:srgbClr val="0B6E8A"/>
          </a:solidFill>
          <a:ln w="12700" cap="flat" cmpd="sng">
            <a:solidFill>
              <a:srgbClr val="0B6E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2560320" y="1755648"/>
            <a:ext cx="47548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I/C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3054096" y="1755648"/>
            <a:ext cx="13533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Intervention &amp; Comparator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2560320" y="2414016"/>
            <a:ext cx="1847088" cy="199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 dirty="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(Reference) IMV via endotracheal intubation or tracheostomy within 24h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 dirty="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vs. HFNC (high-flow nasal cannula)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 dirty="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vs. NIV/BiPAP (non-invasive ventilation)</a:t>
            </a:r>
            <a:endParaRPr sz="9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4590288" y="1755648"/>
            <a:ext cx="2011680" cy="2743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4590288" y="1755648"/>
            <a:ext cx="2011680" cy="566928"/>
          </a:xfrm>
          <a:prstGeom prst="rect">
            <a:avLst/>
          </a:prstGeom>
          <a:solidFill>
            <a:srgbClr val="1A6B52"/>
          </a:solidFill>
          <a:ln w="12700" cap="flat" cmpd="sng">
            <a:solidFill>
              <a:srgbClr val="1A6B5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4681728" y="1755648"/>
            <a:ext cx="47548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5175504" y="1755648"/>
            <a:ext cx="13533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Covariates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4681728" y="2414016"/>
            <a:ext cx="1847088" cy="199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Demographics: age, sex, race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Cancer type &amp; metastatic status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Severity scores: SOFA, SAPS-II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Vitals, labs (SpO₂, PaO₂, lactate, creatinine), vasopressors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6711696" y="1755648"/>
            <a:ext cx="2011680" cy="27432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705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6711696" y="1755648"/>
            <a:ext cx="2011680" cy="566928"/>
          </a:xfrm>
          <a:prstGeom prst="rect">
            <a:avLst/>
          </a:prstGeom>
          <a:solidFill>
            <a:srgbClr val="8B3A0F"/>
          </a:solidFill>
          <a:ln w="12700" cap="flat" cmpd="sng">
            <a:solidFill>
              <a:srgbClr val="8B3A0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03136" y="1755648"/>
            <a:ext cx="47548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7296912" y="1755648"/>
            <a:ext cx="135331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Outcomes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803136" y="2414016"/>
            <a:ext cx="1847088" cy="199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Primary: 28-day all-cause mortality from ICU admission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50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Char char="•"/>
            </a:pPr>
            <a:r>
              <a:rPr lang="en-US" sz="95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Secondary: Hospital mortality (in-hospital death, index admission)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347472" y="4718304"/>
            <a:ext cx="2651760" cy="274320"/>
          </a:xfrm>
          <a:prstGeom prst="rect">
            <a:avLst/>
          </a:prstGeom>
          <a:solidFill>
            <a:srgbClr val="C8EEF7"/>
          </a:solidFill>
          <a:ln w="12700" cap="flat" cmpd="sng">
            <a:solidFill>
              <a:srgbClr val="18B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347472" y="4718304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Retrospective Cohort · MIMIC-IV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3182112" y="4718304"/>
            <a:ext cx="2651760" cy="274320"/>
          </a:xfrm>
          <a:prstGeom prst="rect">
            <a:avLst/>
          </a:prstGeom>
          <a:solidFill>
            <a:srgbClr val="C8EEF7"/>
          </a:solidFill>
          <a:ln w="12700" cap="flat" cmpd="sng">
            <a:solidFill>
              <a:srgbClr val="18B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3182112" y="4718304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Propensity Score Methods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016752" y="4718304"/>
            <a:ext cx="2651760" cy="274320"/>
          </a:xfrm>
          <a:prstGeom prst="rect">
            <a:avLst/>
          </a:prstGeom>
          <a:solidFill>
            <a:srgbClr val="C8EEF7"/>
          </a:solidFill>
          <a:ln w="12700" cap="flat" cmpd="sng">
            <a:solidFill>
              <a:srgbClr val="18B4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6016752" y="4718304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900"/>
              <a:buFont typeface="Calibri"/>
              <a:buNone/>
            </a:pPr>
            <a:r>
              <a:rPr lang="en-US" sz="900" b="1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Comparative Effectiveness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b="1" spc="45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85750" y="514350"/>
            <a:ext cx="87010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02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Objectives &amp; Research Question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85750" y="1057275"/>
            <a:ext cx="5600700" cy="2400300"/>
          </a:xfrm>
          <a:custGeom>
            <a:avLst/>
            <a:gdLst/>
            <a:ahLst/>
            <a:cxnLst/>
            <a:rect l="l" t="t" r="r" b="b"/>
            <a:pathLst>
              <a:path w="7467600" h="3200400">
                <a:moveTo>
                  <a:pt x="76202" y="0"/>
                </a:moveTo>
                <a:lnTo>
                  <a:pt x="7391398" y="0"/>
                </a:lnTo>
                <a:cubicBezTo>
                  <a:pt x="7433483" y="0"/>
                  <a:pt x="7467600" y="34117"/>
                  <a:pt x="7467600" y="76202"/>
                </a:cubicBezTo>
                <a:lnTo>
                  <a:pt x="7467600" y="3124198"/>
                </a:lnTo>
                <a:cubicBezTo>
                  <a:pt x="7467600" y="3166283"/>
                  <a:pt x="7433483" y="3200400"/>
                  <a:pt x="7391398" y="3200400"/>
                </a:cubicBezTo>
                <a:lnTo>
                  <a:pt x="76202" y="3200400"/>
                </a:lnTo>
                <a:cubicBezTo>
                  <a:pt x="34117" y="3200400"/>
                  <a:pt x="0" y="3166283"/>
                  <a:pt x="0" y="3124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478631" y="12573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671512" y="1228725"/>
            <a:ext cx="5129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Objective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71626"/>
            <a:ext cx="5322094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estimate the </a:t>
            </a:r>
            <a:r>
              <a:rPr lang="en-US" sz="1013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causal effect</a:t>
            </a:r>
            <a:r>
              <a:rPr lang="en-US" sz="101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Non-invasive and HFNC as an initial respiratory support strategy on outcomes in adult cancer patients admitted to the ICU.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71712"/>
            <a:ext cx="5257800" cy="1014413"/>
          </a:xfrm>
          <a:custGeom>
            <a:avLst/>
            <a:gdLst/>
            <a:ahLst/>
            <a:cxnLst/>
            <a:rect l="l" t="t" r="r" b="b"/>
            <a:pathLst>
              <a:path w="7010400" h="1352550">
                <a:moveTo>
                  <a:pt x="76203" y="0"/>
                </a:moveTo>
                <a:lnTo>
                  <a:pt x="6934197" y="0"/>
                </a:lnTo>
                <a:cubicBezTo>
                  <a:pt x="6976283" y="0"/>
                  <a:pt x="7010400" y="34117"/>
                  <a:pt x="7010400" y="76203"/>
                </a:cubicBezTo>
                <a:lnTo>
                  <a:pt x="7010400" y="1276347"/>
                </a:lnTo>
                <a:cubicBezTo>
                  <a:pt x="7010400" y="1318433"/>
                  <a:pt x="6976283" y="1352550"/>
                  <a:pt x="6934197" y="1352550"/>
                </a:cubicBezTo>
                <a:lnTo>
                  <a:pt x="76203" y="1352550"/>
                </a:lnTo>
                <a:cubicBezTo>
                  <a:pt x="34117" y="1352550"/>
                  <a:pt x="0" y="1318433"/>
                  <a:pt x="0" y="12763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571500" y="2386013"/>
            <a:ext cx="508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Question: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" y="2614612"/>
            <a:ext cx="50863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Among adult malignant cancer patients admitted to the ICU who require respiratory support, what is the causal effect of initial invasive ventilation compared with initial non-invasive oxygen delivery methods on 28-day all-cause mortality?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894" y="3607594"/>
            <a:ext cx="2728913" cy="1243013"/>
          </a:xfrm>
          <a:custGeom>
            <a:avLst/>
            <a:gdLst/>
            <a:ahLst/>
            <a:cxnLst/>
            <a:rect l="l" t="t" r="r" b="b"/>
            <a:pathLst>
              <a:path w="3638550" h="1657350">
                <a:moveTo>
                  <a:pt x="76205" y="0"/>
                </a:moveTo>
                <a:lnTo>
                  <a:pt x="3562345" y="0"/>
                </a:lnTo>
                <a:cubicBezTo>
                  <a:pt x="3604432" y="0"/>
                  <a:pt x="3638550" y="34118"/>
                  <a:pt x="3638550" y="76205"/>
                </a:cubicBezTo>
                <a:lnTo>
                  <a:pt x="3638550" y="1581145"/>
                </a:lnTo>
                <a:cubicBezTo>
                  <a:pt x="3638550" y="1623232"/>
                  <a:pt x="3604432" y="1657350"/>
                  <a:pt x="3562345" y="1657350"/>
                </a:cubicBezTo>
                <a:lnTo>
                  <a:pt x="76205" y="1657350"/>
                </a:lnTo>
                <a:cubicBezTo>
                  <a:pt x="34118" y="1657350"/>
                  <a:pt x="0" y="1623232"/>
                  <a:pt x="0" y="15811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8F9FA"/>
          </a:solidFill>
          <a:ln w="25400">
            <a:solidFill>
              <a:srgbClr val="C75B39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42913" y="37576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533996" y="3857625"/>
            <a:ext cx="160735" cy="142875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871538" y="3829050"/>
            <a:ext cx="11715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Outcome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2913" y="4186238"/>
            <a:ext cx="25360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88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28-Day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2913" y="4500563"/>
            <a:ext cx="24931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3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All-cause mortality from ICU admission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0394" y="3607594"/>
            <a:ext cx="2728913" cy="1243013"/>
          </a:xfrm>
          <a:custGeom>
            <a:avLst/>
            <a:gdLst/>
            <a:ahLst/>
            <a:cxnLst/>
            <a:rect l="l" t="t" r="r" b="b"/>
            <a:pathLst>
              <a:path w="3638550" h="1657350">
                <a:moveTo>
                  <a:pt x="76205" y="0"/>
                </a:moveTo>
                <a:lnTo>
                  <a:pt x="3562345" y="0"/>
                </a:lnTo>
                <a:cubicBezTo>
                  <a:pt x="3604432" y="0"/>
                  <a:pt x="3638550" y="34118"/>
                  <a:pt x="3638550" y="76205"/>
                </a:cubicBezTo>
                <a:lnTo>
                  <a:pt x="3638550" y="1581145"/>
                </a:lnTo>
                <a:cubicBezTo>
                  <a:pt x="3638550" y="1623232"/>
                  <a:pt x="3604432" y="1657350"/>
                  <a:pt x="3562345" y="1657350"/>
                </a:cubicBezTo>
                <a:lnTo>
                  <a:pt x="76205" y="1657350"/>
                </a:lnTo>
                <a:cubicBezTo>
                  <a:pt x="34118" y="1657350"/>
                  <a:pt x="0" y="1623232"/>
                  <a:pt x="0" y="15811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8F9FA"/>
          </a:solidFill>
          <a:ln w="254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3300413" y="3757613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3400425" y="385762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6320" y="127992"/>
                </a:moveTo>
                <a:lnTo>
                  <a:pt x="86320" y="104180"/>
                </a:lnTo>
                <a:lnTo>
                  <a:pt x="62508" y="104180"/>
                </a:lnTo>
                <a:cubicBezTo>
                  <a:pt x="57559" y="104180"/>
                  <a:pt x="53578" y="100199"/>
                  <a:pt x="53578" y="95250"/>
                </a:cubicBezTo>
                <a:cubicBezTo>
                  <a:pt x="53578" y="90301"/>
                  <a:pt x="57559" y="86320"/>
                  <a:pt x="62508" y="86320"/>
                </a:cubicBezTo>
                <a:lnTo>
                  <a:pt x="86320" y="86320"/>
                </a:lnTo>
                <a:lnTo>
                  <a:pt x="86320" y="62508"/>
                </a:lnTo>
                <a:cubicBezTo>
                  <a:pt x="86320" y="57559"/>
                  <a:pt x="90301" y="53578"/>
                  <a:pt x="95250" y="53578"/>
                </a:cubicBezTo>
                <a:cubicBezTo>
                  <a:pt x="100199" y="53578"/>
                  <a:pt x="104180" y="57559"/>
                  <a:pt x="104180" y="62508"/>
                </a:cubicBezTo>
                <a:lnTo>
                  <a:pt x="104180" y="86320"/>
                </a:lnTo>
                <a:lnTo>
                  <a:pt x="127992" y="86320"/>
                </a:lnTo>
                <a:cubicBezTo>
                  <a:pt x="132941" y="86320"/>
                  <a:pt x="136922" y="90301"/>
                  <a:pt x="136922" y="95250"/>
                </a:cubicBezTo>
                <a:cubicBezTo>
                  <a:pt x="136922" y="100199"/>
                  <a:pt x="132941" y="104180"/>
                  <a:pt x="127992" y="104180"/>
                </a:cubicBezTo>
                <a:lnTo>
                  <a:pt x="104180" y="104180"/>
                </a:lnTo>
                <a:lnTo>
                  <a:pt x="104180" y="127992"/>
                </a:lnTo>
                <a:cubicBezTo>
                  <a:pt x="104180" y="132941"/>
                  <a:pt x="100199" y="136922"/>
                  <a:pt x="95250" y="136922"/>
                </a:cubicBezTo>
                <a:cubicBezTo>
                  <a:pt x="90301" y="136922"/>
                  <a:pt x="86320" y="132941"/>
                  <a:pt x="86320" y="12799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3729037" y="3829050"/>
            <a:ext cx="13573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Secondary Outcome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00413" y="4186238"/>
            <a:ext cx="25360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88" b="1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In-Hospital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00413" y="4500563"/>
            <a:ext cx="24931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3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Mortality during hospitalization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57900" y="1057275"/>
            <a:ext cx="2800350" cy="2486025"/>
          </a:xfrm>
          <a:custGeom>
            <a:avLst/>
            <a:gdLst/>
            <a:ahLst/>
            <a:cxnLst/>
            <a:rect l="l" t="t" r="r" b="b"/>
            <a:pathLst>
              <a:path w="3733800" h="3314700">
                <a:moveTo>
                  <a:pt x="76205" y="0"/>
                </a:moveTo>
                <a:lnTo>
                  <a:pt x="3657595" y="0"/>
                </a:lnTo>
                <a:cubicBezTo>
                  <a:pt x="3699682" y="0"/>
                  <a:pt x="3733800" y="34118"/>
                  <a:pt x="3733800" y="76205"/>
                </a:cubicBezTo>
                <a:lnTo>
                  <a:pt x="3733800" y="3238495"/>
                </a:lnTo>
                <a:cubicBezTo>
                  <a:pt x="3733800" y="3280582"/>
                  <a:pt x="3699682" y="3314700"/>
                  <a:pt x="3657595" y="3314700"/>
                </a:cubicBezTo>
                <a:lnTo>
                  <a:pt x="76205" y="3314700"/>
                </a:lnTo>
                <a:cubicBezTo>
                  <a:pt x="34118" y="3314700"/>
                  <a:pt x="0" y="3280582"/>
                  <a:pt x="0" y="32384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6256139" y="1257300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372" y="164343"/>
                </a:moveTo>
                <a:cubicBezTo>
                  <a:pt x="2046" y="172455"/>
                  <a:pt x="9227" y="178594"/>
                  <a:pt x="17859" y="178594"/>
                </a:cubicBezTo>
                <a:lnTo>
                  <a:pt x="148828" y="178594"/>
                </a:lnTo>
                <a:cubicBezTo>
                  <a:pt x="158688" y="178594"/>
                  <a:pt x="166688" y="170594"/>
                  <a:pt x="166688" y="160734"/>
                </a:cubicBezTo>
                <a:lnTo>
                  <a:pt x="166688" y="125016"/>
                </a:lnTo>
                <a:cubicBezTo>
                  <a:pt x="166688" y="115156"/>
                  <a:pt x="158688" y="107156"/>
                  <a:pt x="148828" y="107156"/>
                </a:cubicBezTo>
                <a:lnTo>
                  <a:pt x="130969" y="107156"/>
                </a:lnTo>
                <a:lnTo>
                  <a:pt x="130969" y="133945"/>
                </a:lnTo>
                <a:cubicBezTo>
                  <a:pt x="130969" y="138894"/>
                  <a:pt x="126988" y="142875"/>
                  <a:pt x="122039" y="142875"/>
                </a:cubicBezTo>
                <a:cubicBezTo>
                  <a:pt x="117091" y="142875"/>
                  <a:pt x="113109" y="138894"/>
                  <a:pt x="113109" y="133945"/>
                </a:cubicBezTo>
                <a:lnTo>
                  <a:pt x="113109" y="107156"/>
                </a:lnTo>
                <a:lnTo>
                  <a:pt x="89297" y="107156"/>
                </a:lnTo>
                <a:lnTo>
                  <a:pt x="89297" y="133945"/>
                </a:lnTo>
                <a:cubicBezTo>
                  <a:pt x="89297" y="138894"/>
                  <a:pt x="85316" y="142875"/>
                  <a:pt x="80367" y="142875"/>
                </a:cubicBezTo>
                <a:cubicBezTo>
                  <a:pt x="75419" y="142875"/>
                  <a:pt x="71438" y="138894"/>
                  <a:pt x="71438" y="133945"/>
                </a:cubicBezTo>
                <a:lnTo>
                  <a:pt x="71438" y="107156"/>
                </a:lnTo>
                <a:lnTo>
                  <a:pt x="44648" y="107156"/>
                </a:lnTo>
                <a:cubicBezTo>
                  <a:pt x="39700" y="107156"/>
                  <a:pt x="35719" y="103175"/>
                  <a:pt x="35719" y="98227"/>
                </a:cubicBezTo>
                <a:cubicBezTo>
                  <a:pt x="35719" y="93278"/>
                  <a:pt x="39700" y="89297"/>
                  <a:pt x="44648" y="89297"/>
                </a:cubicBezTo>
                <a:lnTo>
                  <a:pt x="71438" y="89297"/>
                </a:lnTo>
                <a:lnTo>
                  <a:pt x="71438" y="65484"/>
                </a:lnTo>
                <a:lnTo>
                  <a:pt x="44648" y="65484"/>
                </a:lnTo>
                <a:cubicBezTo>
                  <a:pt x="39700" y="65484"/>
                  <a:pt x="35719" y="61503"/>
                  <a:pt x="35719" y="56555"/>
                </a:cubicBezTo>
                <a:cubicBezTo>
                  <a:pt x="35719" y="51606"/>
                  <a:pt x="39700" y="47625"/>
                  <a:pt x="44648" y="47625"/>
                </a:cubicBezTo>
                <a:lnTo>
                  <a:pt x="71438" y="47625"/>
                </a:lnTo>
                <a:lnTo>
                  <a:pt x="71438" y="29766"/>
                </a:lnTo>
                <a:cubicBezTo>
                  <a:pt x="71438" y="19906"/>
                  <a:pt x="63438" y="11906"/>
                  <a:pt x="53578" y="11906"/>
                </a:cubicBezTo>
                <a:lnTo>
                  <a:pt x="17859" y="11906"/>
                </a:lnTo>
                <a:cubicBezTo>
                  <a:pt x="8000" y="11906"/>
                  <a:pt x="0" y="19906"/>
                  <a:pt x="0" y="29766"/>
                </a:cubicBezTo>
                <a:lnTo>
                  <a:pt x="0" y="160734"/>
                </a:lnTo>
                <a:cubicBezTo>
                  <a:pt x="0" y="161962"/>
                  <a:pt x="112" y="163190"/>
                  <a:pt x="372" y="16434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6407944" y="1228725"/>
            <a:ext cx="23502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Estimands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29350" y="1543050"/>
            <a:ext cx="2457450" cy="771525"/>
          </a:xfrm>
          <a:custGeom>
            <a:avLst/>
            <a:gdLst/>
            <a:ahLst/>
            <a:cxnLst/>
            <a:rect l="l" t="t" r="r" b="b"/>
            <a:pathLst>
              <a:path w="3276600" h="1028700">
                <a:moveTo>
                  <a:pt x="76196" y="0"/>
                </a:moveTo>
                <a:lnTo>
                  <a:pt x="3200404" y="0"/>
                </a:lnTo>
                <a:cubicBezTo>
                  <a:pt x="3242486" y="0"/>
                  <a:pt x="3276600" y="34114"/>
                  <a:pt x="3276600" y="76196"/>
                </a:cubicBezTo>
                <a:lnTo>
                  <a:pt x="3276600" y="952504"/>
                </a:lnTo>
                <a:cubicBezTo>
                  <a:pt x="3276600" y="994586"/>
                  <a:pt x="3242486" y="1028700"/>
                  <a:pt x="32004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343650" y="1657350"/>
            <a:ext cx="22931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43651" y="1914525"/>
            <a:ext cx="2278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Treatment Effect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43650" y="2085975"/>
            <a:ext cx="2271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675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Population-level effect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29350" y="2428875"/>
            <a:ext cx="2457450" cy="771525"/>
          </a:xfrm>
          <a:custGeom>
            <a:avLst/>
            <a:gdLst/>
            <a:ahLst/>
            <a:cxnLst/>
            <a:rect l="l" t="t" r="r" b="b"/>
            <a:pathLst>
              <a:path w="3276600" h="1028700">
                <a:moveTo>
                  <a:pt x="76196" y="0"/>
                </a:moveTo>
                <a:lnTo>
                  <a:pt x="3200404" y="0"/>
                </a:lnTo>
                <a:cubicBezTo>
                  <a:pt x="3242486" y="0"/>
                  <a:pt x="3276600" y="34114"/>
                  <a:pt x="3276600" y="76196"/>
                </a:cubicBezTo>
                <a:lnTo>
                  <a:pt x="3276600" y="952504"/>
                </a:lnTo>
                <a:cubicBezTo>
                  <a:pt x="3276600" y="994586"/>
                  <a:pt x="3242486" y="1028700"/>
                  <a:pt x="32004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343650" y="2543175"/>
            <a:ext cx="22931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3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43651" y="2800350"/>
            <a:ext cx="22788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Treatment Effect on Treated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43650" y="2971800"/>
            <a:ext cx="22717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675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 in treated patients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57900" y="3657600"/>
            <a:ext cx="2800350" cy="1200150"/>
          </a:xfrm>
          <a:custGeom>
            <a:avLst/>
            <a:gdLst/>
            <a:ahLst/>
            <a:cxnLst/>
            <a:rect l="l" t="t" r="r" b="b"/>
            <a:pathLst>
              <a:path w="3733800" h="1600200">
                <a:moveTo>
                  <a:pt x="76202" y="0"/>
                </a:moveTo>
                <a:lnTo>
                  <a:pt x="3657598" y="0"/>
                </a:lnTo>
                <a:cubicBezTo>
                  <a:pt x="3699683" y="0"/>
                  <a:pt x="3733800" y="34117"/>
                  <a:pt x="3733800" y="76202"/>
                </a:cubicBezTo>
                <a:lnTo>
                  <a:pt x="3733800" y="1523998"/>
                </a:lnTo>
                <a:cubicBezTo>
                  <a:pt x="3733800" y="1566083"/>
                  <a:pt x="3699683" y="1600200"/>
                  <a:pt x="3657598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75B39">
              <a:alpha val="10196"/>
            </a:srgbClr>
          </a:solidFill>
          <a:ln/>
        </p:spPr>
        <p:txBody>
          <a:bodyPr/>
          <a:lstStyle/>
          <a:p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8635" y="3836194"/>
            <a:ext cx="128588" cy="128588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6365081" y="3800475"/>
            <a:ext cx="24145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3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28-Day Mortality?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22206" y="41148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6400800" y="4086225"/>
            <a:ext cx="2357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Commonly adopted in critical care research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22206" y="43434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6400800" y="4314825"/>
            <a:ext cx="2357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delayed deaths from acute illness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22206" y="45720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862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b="1" spc="45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85750" y="514350"/>
            <a:ext cx="87010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02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 &amp; Study Population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85750" y="1028700"/>
            <a:ext cx="5600700" cy="1857375"/>
          </a:xfrm>
          <a:custGeom>
            <a:avLst/>
            <a:gdLst/>
            <a:ahLst/>
            <a:cxnLst/>
            <a:rect l="l" t="t" r="r" b="b"/>
            <a:pathLst>
              <a:path w="7467600" h="2476500">
                <a:moveTo>
                  <a:pt x="76202" y="0"/>
                </a:moveTo>
                <a:lnTo>
                  <a:pt x="7391398" y="0"/>
                </a:lnTo>
                <a:cubicBezTo>
                  <a:pt x="7433483" y="0"/>
                  <a:pt x="7467600" y="34117"/>
                  <a:pt x="7467600" y="76202"/>
                </a:cubicBezTo>
                <a:lnTo>
                  <a:pt x="7467600" y="2400298"/>
                </a:lnTo>
                <a:cubicBezTo>
                  <a:pt x="7467600" y="2442383"/>
                  <a:pt x="7433483" y="2476500"/>
                  <a:pt x="7391398" y="2476500"/>
                </a:cubicBezTo>
                <a:lnTo>
                  <a:pt x="76202" y="2476500"/>
                </a:lnTo>
                <a:cubicBezTo>
                  <a:pt x="34117" y="2476500"/>
                  <a:pt x="0" y="2442383"/>
                  <a:pt x="0" y="24002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489348" y="12287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671512" y="1200150"/>
            <a:ext cx="51292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MIMIC-IV v3.1 Database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43050"/>
            <a:ext cx="2571750" cy="685800"/>
          </a:xfrm>
          <a:custGeom>
            <a:avLst/>
            <a:gdLst/>
            <a:ahLst/>
            <a:cxnLst/>
            <a:rect l="l" t="t" r="r" b="b"/>
            <a:pathLst>
              <a:path w="3429000" h="914400">
                <a:moveTo>
                  <a:pt x="76197" y="0"/>
                </a:moveTo>
                <a:lnTo>
                  <a:pt x="3352803" y="0"/>
                </a:lnTo>
                <a:cubicBezTo>
                  <a:pt x="3394885" y="0"/>
                  <a:pt x="3429000" y="34115"/>
                  <a:pt x="3429000" y="76197"/>
                </a:cubicBezTo>
                <a:lnTo>
                  <a:pt x="3429000" y="838203"/>
                </a:lnTo>
                <a:cubicBezTo>
                  <a:pt x="3429000" y="880285"/>
                  <a:pt x="3394885" y="914400"/>
                  <a:pt x="33528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507206" y="1657350"/>
            <a:ext cx="24717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025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65,000+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6498" y="1971675"/>
            <a:ext cx="2393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ICU Patients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43250" y="1543050"/>
            <a:ext cx="2571750" cy="685800"/>
          </a:xfrm>
          <a:custGeom>
            <a:avLst/>
            <a:gdLst/>
            <a:ahLst/>
            <a:cxnLst/>
            <a:rect l="l" t="t" r="r" b="b"/>
            <a:pathLst>
              <a:path w="3429000" h="914400">
                <a:moveTo>
                  <a:pt x="76197" y="0"/>
                </a:moveTo>
                <a:lnTo>
                  <a:pt x="3352803" y="0"/>
                </a:lnTo>
                <a:cubicBezTo>
                  <a:pt x="3394885" y="0"/>
                  <a:pt x="3429000" y="34115"/>
                  <a:pt x="3429000" y="76197"/>
                </a:cubicBezTo>
                <a:lnTo>
                  <a:pt x="3429000" y="838203"/>
                </a:lnTo>
                <a:cubicBezTo>
                  <a:pt x="3429000" y="880285"/>
                  <a:pt x="3394885" y="914400"/>
                  <a:pt x="33528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193256" y="1657350"/>
            <a:ext cx="24717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025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2008-2022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32548" y="1971675"/>
            <a:ext cx="2393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Period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43150"/>
            <a:ext cx="53149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large, publicly available, de-identified electronic medical record dataset from </a:t>
            </a:r>
            <a:r>
              <a:rPr lang="en-US" sz="9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Beth Israel Deaconess Medical Center</a:t>
            </a: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providing high-resolution, time-stamped clinical information.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894" y="3007519"/>
            <a:ext cx="5586413" cy="2071688"/>
          </a:xfrm>
          <a:custGeom>
            <a:avLst/>
            <a:gdLst/>
            <a:ahLst/>
            <a:cxnLst/>
            <a:rect l="l" t="t" r="r" b="b"/>
            <a:pathLst>
              <a:path w="7448550" h="2762250">
                <a:moveTo>
                  <a:pt x="76210" y="0"/>
                </a:moveTo>
                <a:lnTo>
                  <a:pt x="7372340" y="0"/>
                </a:lnTo>
                <a:cubicBezTo>
                  <a:pt x="7414429" y="0"/>
                  <a:pt x="7448550" y="34121"/>
                  <a:pt x="7448550" y="76210"/>
                </a:cubicBezTo>
                <a:lnTo>
                  <a:pt x="7448550" y="2686040"/>
                </a:lnTo>
                <a:cubicBezTo>
                  <a:pt x="7448550" y="2728129"/>
                  <a:pt x="7414429" y="2762250"/>
                  <a:pt x="7372340" y="2762250"/>
                </a:cubicBezTo>
                <a:lnTo>
                  <a:pt x="76210" y="2762250"/>
                </a:lnTo>
                <a:cubicBezTo>
                  <a:pt x="34121" y="2762250"/>
                  <a:pt x="0" y="2728129"/>
                  <a:pt x="0" y="2686040"/>
                </a:cubicBezTo>
                <a:lnTo>
                  <a:pt x="0" y="76210"/>
                </a:lnTo>
                <a:cubicBezTo>
                  <a:pt x="0" y="34121"/>
                  <a:pt x="34121" y="0"/>
                  <a:pt x="76210" y="0"/>
                </a:cubicBezTo>
                <a:close/>
              </a:path>
            </a:pathLst>
          </a:custGeom>
          <a:solidFill>
            <a:srgbClr val="F8F9FA"/>
          </a:solidFill>
          <a:ln w="254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42913" y="3186113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621507" y="3157538"/>
            <a:ext cx="51792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Inclusion Criteria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2913" y="34718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417910" y="3471863"/>
            <a:ext cx="221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0087" y="3471863"/>
            <a:ext cx="490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Adult patients aged </a:t>
            </a:r>
            <a:r>
              <a:rPr lang="en-US" sz="900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≥18 years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2913" y="372903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417910" y="3729038"/>
            <a:ext cx="221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0088" y="3729038"/>
            <a:ext cx="490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Confirmed diagnosis of </a:t>
            </a:r>
            <a:r>
              <a:rPr lang="en-US" sz="900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malignant cancer</a:t>
            </a:r>
            <a:r>
              <a:rPr lang="en-US" sz="9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(solid or hematological) via ICD-9/10 codes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2913" y="398621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417910" y="3986213"/>
            <a:ext cx="221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0088" y="3986213"/>
            <a:ext cx="490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ICU admission</a:t>
            </a:r>
            <a:r>
              <a:rPr lang="en-US" sz="9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during index hospitalization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2913" y="424338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417910" y="4243388"/>
            <a:ext cx="221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88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0088" y="4243388"/>
            <a:ext cx="490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Received respiratory support </a:t>
            </a:r>
            <a:r>
              <a:rPr lang="en-US" sz="900" b="1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within 24 hours</a:t>
            </a:r>
            <a:r>
              <a:rPr lang="en-US" sz="9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ICU admission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65044" y="1035844"/>
            <a:ext cx="2786063" cy="1557338"/>
          </a:xfrm>
          <a:custGeom>
            <a:avLst/>
            <a:gdLst/>
            <a:ahLst/>
            <a:cxnLst/>
            <a:rect l="l" t="t" r="r" b="b"/>
            <a:pathLst>
              <a:path w="3714750" h="2076450">
                <a:moveTo>
                  <a:pt x="76206" y="0"/>
                </a:moveTo>
                <a:lnTo>
                  <a:pt x="3638544" y="0"/>
                </a:lnTo>
                <a:cubicBezTo>
                  <a:pt x="3680603" y="0"/>
                  <a:pt x="3714750" y="34147"/>
                  <a:pt x="3714750" y="76206"/>
                </a:cubicBezTo>
                <a:lnTo>
                  <a:pt x="3714750" y="2000244"/>
                </a:lnTo>
                <a:cubicBezTo>
                  <a:pt x="3714750" y="2042332"/>
                  <a:pt x="3680632" y="2076450"/>
                  <a:pt x="3638544" y="2076450"/>
                </a:cubicBezTo>
                <a:lnTo>
                  <a:pt x="76206" y="2076450"/>
                </a:lnTo>
                <a:cubicBezTo>
                  <a:pt x="34118" y="2076450"/>
                  <a:pt x="0" y="2042332"/>
                  <a:pt x="0" y="2000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C75B39">
              <a:alpha val="10196"/>
            </a:srgbClr>
          </a:solidFill>
          <a:ln w="25400">
            <a:solidFill>
              <a:srgbClr val="C75B39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6215063" y="1214438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750" y="47625"/>
                </a:moveTo>
                <a:cubicBezTo>
                  <a:pt x="50750" y="31674"/>
                  <a:pt x="59260" y="16934"/>
                  <a:pt x="73075" y="8958"/>
                </a:cubicBezTo>
                <a:cubicBezTo>
                  <a:pt x="86889" y="983"/>
                  <a:pt x="103909" y="983"/>
                  <a:pt x="117723" y="8958"/>
                </a:cubicBezTo>
                <a:cubicBezTo>
                  <a:pt x="131537" y="16934"/>
                  <a:pt x="140047" y="31674"/>
                  <a:pt x="140047" y="47625"/>
                </a:cubicBezTo>
                <a:cubicBezTo>
                  <a:pt x="140047" y="72267"/>
                  <a:pt x="120041" y="92273"/>
                  <a:pt x="95399" y="92273"/>
                </a:cubicBezTo>
                <a:cubicBezTo>
                  <a:pt x="70757" y="92273"/>
                  <a:pt x="50750" y="72267"/>
                  <a:pt x="50750" y="47625"/>
                </a:cubicBezTo>
                <a:close/>
                <a:moveTo>
                  <a:pt x="18008" y="179450"/>
                </a:moveTo>
                <a:cubicBezTo>
                  <a:pt x="18008" y="142801"/>
                  <a:pt x="47699" y="113109"/>
                  <a:pt x="84348" y="113109"/>
                </a:cubicBezTo>
                <a:lnTo>
                  <a:pt x="106449" y="113109"/>
                </a:lnTo>
                <a:cubicBezTo>
                  <a:pt x="143098" y="113109"/>
                  <a:pt x="172789" y="142801"/>
                  <a:pt x="172789" y="179450"/>
                </a:cubicBezTo>
                <a:cubicBezTo>
                  <a:pt x="172789" y="185551"/>
                  <a:pt x="167841" y="190500"/>
                  <a:pt x="161739" y="190500"/>
                </a:cubicBezTo>
                <a:lnTo>
                  <a:pt x="29059" y="190500"/>
                </a:lnTo>
                <a:cubicBezTo>
                  <a:pt x="22957" y="190500"/>
                  <a:pt x="18008" y="185551"/>
                  <a:pt x="18008" y="179450"/>
                </a:cubicBezTo>
                <a:close/>
                <a:moveTo>
                  <a:pt x="227819" y="46174"/>
                </a:moveTo>
                <a:cubicBezTo>
                  <a:pt x="231316" y="49671"/>
                  <a:pt x="231316" y="55327"/>
                  <a:pt x="227819" y="58787"/>
                </a:cubicBezTo>
                <a:lnTo>
                  <a:pt x="215205" y="71400"/>
                </a:lnTo>
                <a:lnTo>
                  <a:pt x="227819" y="84013"/>
                </a:lnTo>
                <a:cubicBezTo>
                  <a:pt x="231316" y="87511"/>
                  <a:pt x="231316" y="93166"/>
                  <a:pt x="227819" y="96627"/>
                </a:cubicBezTo>
                <a:cubicBezTo>
                  <a:pt x="224321" y="100087"/>
                  <a:pt x="218666" y="100124"/>
                  <a:pt x="215205" y="96627"/>
                </a:cubicBezTo>
                <a:lnTo>
                  <a:pt x="202592" y="84013"/>
                </a:lnTo>
                <a:lnTo>
                  <a:pt x="189979" y="96627"/>
                </a:lnTo>
                <a:cubicBezTo>
                  <a:pt x="186482" y="100124"/>
                  <a:pt x="180826" y="100124"/>
                  <a:pt x="177366" y="96627"/>
                </a:cubicBezTo>
                <a:cubicBezTo>
                  <a:pt x="173906" y="93129"/>
                  <a:pt x="173868" y="87474"/>
                  <a:pt x="177366" y="84013"/>
                </a:cubicBezTo>
                <a:lnTo>
                  <a:pt x="189979" y="71400"/>
                </a:lnTo>
                <a:lnTo>
                  <a:pt x="177366" y="58787"/>
                </a:lnTo>
                <a:cubicBezTo>
                  <a:pt x="173868" y="55290"/>
                  <a:pt x="173868" y="49634"/>
                  <a:pt x="177366" y="46174"/>
                </a:cubicBezTo>
                <a:cubicBezTo>
                  <a:pt x="180863" y="42714"/>
                  <a:pt x="186519" y="42676"/>
                  <a:pt x="189979" y="46174"/>
                </a:cubicBezTo>
                <a:lnTo>
                  <a:pt x="202592" y="58787"/>
                </a:lnTo>
                <a:lnTo>
                  <a:pt x="215205" y="46174"/>
                </a:lnTo>
                <a:cubicBezTo>
                  <a:pt x="218703" y="42676"/>
                  <a:pt x="224358" y="42676"/>
                  <a:pt x="227819" y="46174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393657" y="1185863"/>
            <a:ext cx="23788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5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Exclusion Criteria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29350" y="152876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6415087" y="1500188"/>
            <a:ext cx="233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Trauma-related admissions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29350" y="178593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6415088" y="1757363"/>
            <a:ext cx="233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Mechanically ventilated before ICU admission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29350" y="204311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6415087" y="2014538"/>
            <a:ext cx="233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"Do Not Intubate" orders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29350" y="230028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49709" y="49709"/>
                </a:moveTo>
                <a:cubicBezTo>
                  <a:pt x="52507" y="46911"/>
                  <a:pt x="57031" y="46911"/>
                  <a:pt x="59799" y="49709"/>
                </a:cubicBezTo>
                <a:lnTo>
                  <a:pt x="76170" y="66080"/>
                </a:lnTo>
                <a:lnTo>
                  <a:pt x="92541" y="49709"/>
                </a:lnTo>
                <a:cubicBezTo>
                  <a:pt x="95339" y="46911"/>
                  <a:pt x="99864" y="46911"/>
                  <a:pt x="102632" y="49709"/>
                </a:cubicBezTo>
                <a:cubicBezTo>
                  <a:pt x="105400" y="52507"/>
                  <a:pt x="105430" y="57031"/>
                  <a:pt x="102632" y="59799"/>
                </a:cubicBezTo>
                <a:lnTo>
                  <a:pt x="86261" y="76170"/>
                </a:lnTo>
                <a:lnTo>
                  <a:pt x="102632" y="92541"/>
                </a:lnTo>
                <a:cubicBezTo>
                  <a:pt x="105430" y="95339"/>
                  <a:pt x="105430" y="99864"/>
                  <a:pt x="102632" y="102632"/>
                </a:cubicBezTo>
                <a:cubicBezTo>
                  <a:pt x="99834" y="105400"/>
                  <a:pt x="95310" y="105430"/>
                  <a:pt x="92541" y="102632"/>
                </a:cubicBezTo>
                <a:lnTo>
                  <a:pt x="76170" y="86261"/>
                </a:lnTo>
                <a:lnTo>
                  <a:pt x="59799" y="102632"/>
                </a:lnTo>
                <a:cubicBezTo>
                  <a:pt x="57001" y="105430"/>
                  <a:pt x="52477" y="105430"/>
                  <a:pt x="49709" y="102632"/>
                </a:cubicBezTo>
                <a:cubicBezTo>
                  <a:pt x="46940" y="99834"/>
                  <a:pt x="46911" y="95310"/>
                  <a:pt x="49709" y="92541"/>
                </a:cubicBezTo>
                <a:lnTo>
                  <a:pt x="66080" y="76170"/>
                </a:lnTo>
                <a:lnTo>
                  <a:pt x="49709" y="59799"/>
                </a:lnTo>
                <a:cubicBezTo>
                  <a:pt x="46911" y="57001"/>
                  <a:pt x="46911" y="52477"/>
                  <a:pt x="49709" y="49709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6415087" y="2271713"/>
            <a:ext cx="233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00" dirty="0">
                <a:solidFill>
                  <a:srgbClr val="1A1A2E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Comfort-measures-only orders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057900" y="2714625"/>
            <a:ext cx="2800350" cy="1743075"/>
          </a:xfrm>
          <a:custGeom>
            <a:avLst/>
            <a:gdLst/>
            <a:ahLst/>
            <a:cxnLst/>
            <a:rect l="l" t="t" r="r" b="b"/>
            <a:pathLst>
              <a:path w="3733800" h="2324100">
                <a:moveTo>
                  <a:pt x="76207" y="0"/>
                </a:moveTo>
                <a:lnTo>
                  <a:pt x="3657593" y="0"/>
                </a:lnTo>
                <a:cubicBezTo>
                  <a:pt x="3699681" y="0"/>
                  <a:pt x="3733800" y="34119"/>
                  <a:pt x="3733800" y="76207"/>
                </a:cubicBezTo>
                <a:lnTo>
                  <a:pt x="3733800" y="2247893"/>
                </a:lnTo>
                <a:cubicBezTo>
                  <a:pt x="3733800" y="2289981"/>
                  <a:pt x="3699681" y="2324100"/>
                  <a:pt x="3657593" y="2324100"/>
                </a:cubicBezTo>
                <a:lnTo>
                  <a:pt x="76207" y="2324100"/>
                </a:lnTo>
                <a:cubicBezTo>
                  <a:pt x="34119" y="2324100"/>
                  <a:pt x="0" y="2289981"/>
                  <a:pt x="0" y="2247893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1" name="Shape 39"/>
          <p:cNvSpPr/>
          <p:nvPr/>
        </p:nvSpPr>
        <p:spPr>
          <a:xfrm>
            <a:off x="7243763" y="2886075"/>
            <a:ext cx="428625" cy="3429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6197204" y="3343275"/>
            <a:ext cx="25217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13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Analytic Cohort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22194" y="3600450"/>
            <a:ext cx="26717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375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1,648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93631" y="4086225"/>
            <a:ext cx="2528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2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057900" y="4572000"/>
            <a:ext cx="2800350" cy="514350"/>
          </a:xfrm>
          <a:custGeom>
            <a:avLst/>
            <a:gdLst/>
            <a:ahLst/>
            <a:cxnLst/>
            <a:rect l="l" t="t" r="r" b="b"/>
            <a:pathLst>
              <a:path w="3733800" h="685800">
                <a:moveTo>
                  <a:pt x="76199" y="0"/>
                </a:moveTo>
                <a:lnTo>
                  <a:pt x="3657601" y="0"/>
                </a:lnTo>
                <a:cubicBezTo>
                  <a:pt x="3699684" y="0"/>
                  <a:pt x="3733800" y="34116"/>
                  <a:pt x="3733800" y="76199"/>
                </a:cubicBezTo>
                <a:lnTo>
                  <a:pt x="3733800" y="609601"/>
                </a:lnTo>
                <a:cubicBezTo>
                  <a:pt x="3733800" y="651684"/>
                  <a:pt x="3699684" y="685800"/>
                  <a:pt x="3657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6380150" y="4704160"/>
            <a:ext cx="100013" cy="100013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7" name="Text 45"/>
          <p:cNvSpPr/>
          <p:nvPr/>
        </p:nvSpPr>
        <p:spPr>
          <a:xfrm>
            <a:off x="6318648" y="4686300"/>
            <a:ext cx="24503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88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De-identified data • No additional IRB consent required</a:t>
            </a:r>
            <a:endParaRPr lang="en-US" sz="1200" dirty="0"/>
          </a:p>
        </p:txBody>
      </p:sp>
      <p:pic>
        <p:nvPicPr>
          <p:cNvPr id="51" name="Picture 50" descr="A flowchart of patients with malnutrition&#10;&#10;AI-generated content may be incorrect.">
            <a:extLst>
              <a:ext uri="{FF2B5EF4-FFF2-40B4-BE49-F238E27FC236}">
                <a16:creationId xmlns:a16="http://schemas.microsoft.com/office/drawing/2014/main" id="{FACE5F99-0A10-A940-852D-EBE967A45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206" y="985837"/>
            <a:ext cx="5984793" cy="41790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4639" y="284639"/>
            <a:ext cx="8631651" cy="170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96" b="1" spc="45" dirty="0">
                <a:solidFill>
                  <a:srgbClr val="4A90A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84639" y="512349"/>
            <a:ext cx="8702811" cy="2846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017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Cohort Characteristics: Baseline Differences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84639" y="882378"/>
            <a:ext cx="8638767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Substantial baseline differences confirm confounding by indication requiring causal adjustment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1754" y="1231060"/>
            <a:ext cx="6311851" cy="2839265"/>
          </a:xfrm>
          <a:custGeom>
            <a:avLst/>
            <a:gdLst/>
            <a:ahLst/>
            <a:cxnLst/>
            <a:rect l="l" t="t" r="r" b="b"/>
            <a:pathLst>
              <a:path w="8415801" h="3785687">
                <a:moveTo>
                  <a:pt x="75903" y="0"/>
                </a:moveTo>
                <a:lnTo>
                  <a:pt x="8339898" y="0"/>
                </a:lnTo>
                <a:cubicBezTo>
                  <a:pt x="8381818" y="0"/>
                  <a:pt x="8415801" y="33983"/>
                  <a:pt x="8415801" y="75903"/>
                </a:cubicBezTo>
                <a:lnTo>
                  <a:pt x="8415801" y="3709784"/>
                </a:lnTo>
                <a:cubicBezTo>
                  <a:pt x="8415801" y="3751704"/>
                  <a:pt x="8381818" y="3785687"/>
                  <a:pt x="8339898" y="3785687"/>
                </a:cubicBezTo>
                <a:lnTo>
                  <a:pt x="75903" y="3785687"/>
                </a:lnTo>
                <a:cubicBezTo>
                  <a:pt x="33983" y="3785687"/>
                  <a:pt x="0" y="3751704"/>
                  <a:pt x="0" y="3709784"/>
                </a:cubicBezTo>
                <a:lnTo>
                  <a:pt x="0" y="75903"/>
                </a:lnTo>
                <a:cubicBezTo>
                  <a:pt x="0" y="34011"/>
                  <a:pt x="34011" y="0"/>
                  <a:pt x="75903" y="0"/>
                </a:cubicBezTo>
                <a:close/>
              </a:path>
            </a:pathLst>
          </a:custGeom>
          <a:solidFill>
            <a:srgbClr val="F8F9FA"/>
          </a:solidFill>
          <a:ln w="254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441190" y="1380495"/>
            <a:ext cx="6084140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1" b="1" dirty="0">
                <a:solidFill>
                  <a:srgbClr val="1E3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Clinical Characteristics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41190" y="1693597"/>
          <a:ext cx="6012981" cy="2227295"/>
        </p:xfrm>
        <a:graphic>
          <a:graphicData uri="http://schemas.openxmlformats.org/drawingml/2006/table">
            <a:tbl>
              <a:tblPr/>
              <a:tblGrid>
                <a:gridCol w="1722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7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8185">
                <a:tc>
                  <a:txBody>
                    <a:bodyPr/>
                    <a:lstStyle/>
                    <a:p>
                      <a:pPr algn="l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Variable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Non-Invasive (N=308)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IMV (N=1,340)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Difference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85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28-day mortality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30.5%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25.7%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Paradox!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85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SOFA Score (median)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C75B3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Higher severity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85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SAPS-II (median)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46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C75B3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Higher severity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85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Vasopressor use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8.8%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45.5%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C75B3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5× higher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185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Age (median)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70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68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Similar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185">
                <a:tc>
                  <a:txBody>
                    <a:bodyPr/>
                    <a:lstStyle/>
                    <a:p>
                      <a:r>
                        <a:rPr lang="en-US" sz="800" b="1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Medicare/Medicaid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75.3%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73.0%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u="none" dirty="0">
                          <a:solidFill>
                            <a:srgbClr val="1A1A2E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Similar</a:t>
                      </a:r>
                      <a:endParaRPr lang="en-US" sz="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85391" marR="85391" marT="85391" marB="85391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84639" y="4191296"/>
            <a:ext cx="3102556" cy="953538"/>
          </a:xfrm>
          <a:custGeom>
            <a:avLst/>
            <a:gdLst/>
            <a:ahLst/>
            <a:cxnLst/>
            <a:rect l="l" t="t" r="r" b="b"/>
            <a:pathLst>
              <a:path w="4136741" h="1271384">
                <a:moveTo>
                  <a:pt x="75902" y="0"/>
                </a:moveTo>
                <a:lnTo>
                  <a:pt x="4060839" y="0"/>
                </a:lnTo>
                <a:cubicBezTo>
                  <a:pt x="4102759" y="0"/>
                  <a:pt x="4136741" y="33982"/>
                  <a:pt x="4136741" y="75902"/>
                </a:cubicBezTo>
                <a:lnTo>
                  <a:pt x="4136741" y="1195482"/>
                </a:lnTo>
                <a:cubicBezTo>
                  <a:pt x="4136741" y="1237401"/>
                  <a:pt x="4102759" y="1271384"/>
                  <a:pt x="4060839" y="1271384"/>
                </a:cubicBezTo>
                <a:lnTo>
                  <a:pt x="75902" y="1271384"/>
                </a:lnTo>
                <a:cubicBezTo>
                  <a:pt x="33982" y="1271384"/>
                  <a:pt x="0" y="1237401"/>
                  <a:pt x="0" y="1195482"/>
                </a:cubicBezTo>
                <a:lnTo>
                  <a:pt x="0" y="75902"/>
                </a:lnTo>
                <a:cubicBezTo>
                  <a:pt x="0" y="34010"/>
                  <a:pt x="34010" y="0"/>
                  <a:pt x="75902" y="0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412726" y="4333616"/>
            <a:ext cx="113855" cy="113855"/>
          </a:xfrm>
          <a:custGeom>
            <a:avLst/>
            <a:gdLst/>
            <a:ahLst/>
            <a:cxnLst/>
            <a:rect l="l" t="t" r="r" b="b"/>
            <a:pathLst>
              <a:path w="151807" h="151807">
                <a:moveTo>
                  <a:pt x="75904" y="0"/>
                </a:moveTo>
                <a:cubicBezTo>
                  <a:pt x="80262" y="0"/>
                  <a:pt x="84265" y="2402"/>
                  <a:pt x="86340" y="6226"/>
                </a:cubicBezTo>
                <a:lnTo>
                  <a:pt x="150384" y="124826"/>
                </a:lnTo>
                <a:cubicBezTo>
                  <a:pt x="152370" y="128502"/>
                  <a:pt x="152281" y="132950"/>
                  <a:pt x="150147" y="136537"/>
                </a:cubicBezTo>
                <a:cubicBezTo>
                  <a:pt x="148012" y="140125"/>
                  <a:pt x="144128" y="142319"/>
                  <a:pt x="139947" y="142319"/>
                </a:cubicBezTo>
                <a:lnTo>
                  <a:pt x="11860" y="142319"/>
                </a:lnTo>
                <a:cubicBezTo>
                  <a:pt x="7679" y="142319"/>
                  <a:pt x="3825" y="140125"/>
                  <a:pt x="1660" y="136537"/>
                </a:cubicBezTo>
                <a:cubicBezTo>
                  <a:pt x="-504" y="132950"/>
                  <a:pt x="-563" y="128502"/>
                  <a:pt x="1423" y="124826"/>
                </a:cubicBezTo>
                <a:lnTo>
                  <a:pt x="65467" y="6226"/>
                </a:lnTo>
                <a:cubicBezTo>
                  <a:pt x="67542" y="2402"/>
                  <a:pt x="71545" y="0"/>
                  <a:pt x="75904" y="0"/>
                </a:cubicBezTo>
                <a:close/>
                <a:moveTo>
                  <a:pt x="75904" y="49812"/>
                </a:moveTo>
                <a:cubicBezTo>
                  <a:pt x="71960" y="49812"/>
                  <a:pt x="68788" y="52984"/>
                  <a:pt x="68788" y="56928"/>
                </a:cubicBezTo>
                <a:lnTo>
                  <a:pt x="68788" y="90135"/>
                </a:lnTo>
                <a:cubicBezTo>
                  <a:pt x="68788" y="94079"/>
                  <a:pt x="71960" y="97251"/>
                  <a:pt x="75904" y="97251"/>
                </a:cubicBezTo>
                <a:cubicBezTo>
                  <a:pt x="79847" y="97251"/>
                  <a:pt x="83019" y="94079"/>
                  <a:pt x="83019" y="90135"/>
                </a:cubicBezTo>
                <a:lnTo>
                  <a:pt x="83019" y="56928"/>
                </a:lnTo>
                <a:cubicBezTo>
                  <a:pt x="83019" y="52984"/>
                  <a:pt x="79847" y="49812"/>
                  <a:pt x="75904" y="49812"/>
                </a:cubicBezTo>
                <a:close/>
                <a:moveTo>
                  <a:pt x="83820" y="113855"/>
                </a:moveTo>
                <a:cubicBezTo>
                  <a:pt x="84000" y="110917"/>
                  <a:pt x="82535" y="108121"/>
                  <a:pt x="80016" y="106597"/>
                </a:cubicBezTo>
                <a:cubicBezTo>
                  <a:pt x="77497" y="105074"/>
                  <a:pt x="74340" y="105074"/>
                  <a:pt x="71821" y="106597"/>
                </a:cubicBezTo>
                <a:cubicBezTo>
                  <a:pt x="69302" y="108121"/>
                  <a:pt x="67837" y="110917"/>
                  <a:pt x="68017" y="113855"/>
                </a:cubicBezTo>
                <a:cubicBezTo>
                  <a:pt x="67837" y="116794"/>
                  <a:pt x="69302" y="119589"/>
                  <a:pt x="71821" y="121113"/>
                </a:cubicBezTo>
                <a:cubicBezTo>
                  <a:pt x="74340" y="122637"/>
                  <a:pt x="77497" y="122637"/>
                  <a:pt x="80016" y="121113"/>
                </a:cubicBezTo>
                <a:cubicBezTo>
                  <a:pt x="82535" y="119589"/>
                  <a:pt x="84000" y="116794"/>
                  <a:pt x="83820" y="11385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7" name="Text 7"/>
          <p:cNvSpPr/>
          <p:nvPr/>
        </p:nvSpPr>
        <p:spPr>
          <a:xfrm>
            <a:off x="540812" y="4305152"/>
            <a:ext cx="2789454" cy="170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9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Paradox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8494" y="4532862"/>
            <a:ext cx="2924657" cy="48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Despite higher severity scores and more vasopressor use, </a:t>
            </a:r>
            <a:r>
              <a:rPr lang="en-US" sz="78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unadjusted mortality was lower in the IMV group</a:t>
            </a:r>
            <a:r>
              <a:rPr lang="en-US" sz="7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confirms confounding by indication that requires causal adjustment.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08110" y="4194854"/>
            <a:ext cx="3102556" cy="946422"/>
          </a:xfrm>
          <a:custGeom>
            <a:avLst/>
            <a:gdLst/>
            <a:ahLst/>
            <a:cxnLst/>
            <a:rect l="l" t="t" r="r" b="b"/>
            <a:pathLst>
              <a:path w="4136741" h="1261896">
                <a:moveTo>
                  <a:pt x="75903" y="0"/>
                </a:moveTo>
                <a:lnTo>
                  <a:pt x="4060838" y="0"/>
                </a:lnTo>
                <a:cubicBezTo>
                  <a:pt x="4102758" y="0"/>
                  <a:pt x="4136741" y="33983"/>
                  <a:pt x="4136741" y="75903"/>
                </a:cubicBezTo>
                <a:lnTo>
                  <a:pt x="4136741" y="1185993"/>
                </a:lnTo>
                <a:cubicBezTo>
                  <a:pt x="4136741" y="1227913"/>
                  <a:pt x="4102758" y="1261896"/>
                  <a:pt x="4060838" y="1261896"/>
                </a:cubicBezTo>
                <a:lnTo>
                  <a:pt x="75903" y="1261896"/>
                </a:lnTo>
                <a:cubicBezTo>
                  <a:pt x="33983" y="1261896"/>
                  <a:pt x="0" y="1227913"/>
                  <a:pt x="0" y="1185993"/>
                </a:cubicBezTo>
                <a:lnTo>
                  <a:pt x="0" y="75903"/>
                </a:lnTo>
                <a:cubicBezTo>
                  <a:pt x="0" y="33983"/>
                  <a:pt x="33983" y="0"/>
                  <a:pt x="75903" y="0"/>
                </a:cubicBezTo>
                <a:close/>
              </a:path>
            </a:pathLst>
          </a:custGeom>
          <a:solidFill>
            <a:srgbClr val="4A90A4">
              <a:alpha val="10196"/>
            </a:srgbClr>
          </a:solidFill>
          <a:ln w="12700">
            <a:solidFill>
              <a:srgbClr val="4A90A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3" name="Shape 10"/>
          <p:cNvSpPr/>
          <p:nvPr/>
        </p:nvSpPr>
        <p:spPr>
          <a:xfrm>
            <a:off x="3639755" y="4340732"/>
            <a:ext cx="113855" cy="113855"/>
          </a:xfrm>
          <a:custGeom>
            <a:avLst/>
            <a:gdLst/>
            <a:ahLst/>
            <a:cxnLst/>
            <a:rect l="l" t="t" r="r" b="b"/>
            <a:pathLst>
              <a:path w="151807" h="151807">
                <a:moveTo>
                  <a:pt x="75904" y="151807"/>
                </a:moveTo>
                <a:cubicBezTo>
                  <a:pt x="117796" y="151807"/>
                  <a:pt x="151807" y="117796"/>
                  <a:pt x="151807" y="75904"/>
                </a:cubicBezTo>
                <a:cubicBezTo>
                  <a:pt x="151807" y="34011"/>
                  <a:pt x="117796" y="0"/>
                  <a:pt x="75904" y="0"/>
                </a:cubicBezTo>
                <a:cubicBezTo>
                  <a:pt x="34011" y="0"/>
                  <a:pt x="0" y="34011"/>
                  <a:pt x="0" y="75904"/>
                </a:cubicBezTo>
                <a:cubicBezTo>
                  <a:pt x="0" y="117796"/>
                  <a:pt x="34011" y="151807"/>
                  <a:pt x="75904" y="151807"/>
                </a:cubicBezTo>
                <a:close/>
                <a:moveTo>
                  <a:pt x="66416" y="47440"/>
                </a:moveTo>
                <a:cubicBezTo>
                  <a:pt x="66416" y="42203"/>
                  <a:pt x="70667" y="37952"/>
                  <a:pt x="75904" y="37952"/>
                </a:cubicBezTo>
                <a:cubicBezTo>
                  <a:pt x="81140" y="37952"/>
                  <a:pt x="85391" y="42203"/>
                  <a:pt x="85391" y="47440"/>
                </a:cubicBezTo>
                <a:cubicBezTo>
                  <a:pt x="85391" y="52676"/>
                  <a:pt x="81140" y="56928"/>
                  <a:pt x="75904" y="56928"/>
                </a:cubicBezTo>
                <a:cubicBezTo>
                  <a:pt x="70667" y="56928"/>
                  <a:pt x="66416" y="52676"/>
                  <a:pt x="66416" y="47440"/>
                </a:cubicBezTo>
                <a:close/>
                <a:moveTo>
                  <a:pt x="64044" y="66416"/>
                </a:moveTo>
                <a:lnTo>
                  <a:pt x="78275" y="66416"/>
                </a:lnTo>
                <a:cubicBezTo>
                  <a:pt x="82219" y="66416"/>
                  <a:pt x="85391" y="69588"/>
                  <a:pt x="85391" y="73532"/>
                </a:cubicBezTo>
                <a:lnTo>
                  <a:pt x="85391" y="99623"/>
                </a:lnTo>
                <a:lnTo>
                  <a:pt x="87763" y="99623"/>
                </a:lnTo>
                <a:cubicBezTo>
                  <a:pt x="91707" y="99623"/>
                  <a:pt x="94879" y="102796"/>
                  <a:pt x="94879" y="106739"/>
                </a:cubicBezTo>
                <a:cubicBezTo>
                  <a:pt x="94879" y="110683"/>
                  <a:pt x="91707" y="113855"/>
                  <a:pt x="87763" y="113855"/>
                </a:cubicBezTo>
                <a:lnTo>
                  <a:pt x="64044" y="113855"/>
                </a:lnTo>
                <a:cubicBezTo>
                  <a:pt x="60100" y="113855"/>
                  <a:pt x="56928" y="110683"/>
                  <a:pt x="56928" y="106739"/>
                </a:cubicBezTo>
                <a:cubicBezTo>
                  <a:pt x="56928" y="102796"/>
                  <a:pt x="60100" y="99623"/>
                  <a:pt x="64044" y="99623"/>
                </a:cubicBezTo>
                <a:lnTo>
                  <a:pt x="71160" y="99623"/>
                </a:lnTo>
                <a:lnTo>
                  <a:pt x="71160" y="80647"/>
                </a:lnTo>
                <a:lnTo>
                  <a:pt x="64044" y="80647"/>
                </a:lnTo>
                <a:cubicBezTo>
                  <a:pt x="60100" y="80647"/>
                  <a:pt x="56928" y="77475"/>
                  <a:pt x="56928" y="73532"/>
                </a:cubicBezTo>
                <a:cubicBezTo>
                  <a:pt x="56928" y="69588"/>
                  <a:pt x="60100" y="66416"/>
                  <a:pt x="64044" y="66416"/>
                </a:cubicBezTo>
                <a:close/>
              </a:path>
            </a:pathLst>
          </a:custGeom>
          <a:solidFill>
            <a:srgbClr val="4A90A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4" name="Text 11"/>
          <p:cNvSpPr/>
          <p:nvPr/>
        </p:nvSpPr>
        <p:spPr>
          <a:xfrm>
            <a:off x="3767842" y="4312268"/>
            <a:ext cx="2782338" cy="170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896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25522" y="4539978"/>
            <a:ext cx="2917541" cy="483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85" dirty="0">
                <a:solidFill>
                  <a:srgbClr val="1A1A2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Groups were broadly similar in age, language (88.3% English), and insurance status (~73-75% Medicare/Medicaid), with slight differences in racial composition.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752984" y="1223944"/>
            <a:ext cx="2106323" cy="3209295"/>
          </a:xfrm>
          <a:custGeom>
            <a:avLst/>
            <a:gdLst/>
            <a:ahLst/>
            <a:cxnLst/>
            <a:rect l="l" t="t" r="r" b="b"/>
            <a:pathLst>
              <a:path w="2808430" h="4279060">
                <a:moveTo>
                  <a:pt x="75912" y="0"/>
                </a:moveTo>
                <a:lnTo>
                  <a:pt x="2732518" y="0"/>
                </a:lnTo>
                <a:cubicBezTo>
                  <a:pt x="2774443" y="0"/>
                  <a:pt x="2808430" y="33987"/>
                  <a:pt x="2808430" y="75912"/>
                </a:cubicBezTo>
                <a:lnTo>
                  <a:pt x="2808430" y="4203148"/>
                </a:lnTo>
                <a:cubicBezTo>
                  <a:pt x="2808430" y="4245073"/>
                  <a:pt x="2774443" y="4279060"/>
                  <a:pt x="2732518" y="4279060"/>
                </a:cubicBezTo>
                <a:lnTo>
                  <a:pt x="75912" y="4279060"/>
                </a:lnTo>
                <a:cubicBezTo>
                  <a:pt x="33987" y="4279060"/>
                  <a:pt x="0" y="4245073"/>
                  <a:pt x="0" y="4203148"/>
                </a:cubicBezTo>
                <a:lnTo>
                  <a:pt x="0" y="75912"/>
                </a:lnTo>
                <a:cubicBezTo>
                  <a:pt x="0" y="34015"/>
                  <a:pt x="34015" y="0"/>
                  <a:pt x="75912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7" name="Shape 14"/>
          <p:cNvSpPr/>
          <p:nvPr/>
        </p:nvSpPr>
        <p:spPr>
          <a:xfrm>
            <a:off x="6905088" y="1401844"/>
            <a:ext cx="144098" cy="128087"/>
          </a:xfrm>
          <a:custGeom>
            <a:avLst/>
            <a:gdLst/>
            <a:ahLst/>
            <a:cxnLst/>
            <a:rect l="l" t="t" r="r" b="b"/>
            <a:pathLst>
              <a:path w="192131" h="170783">
                <a:moveTo>
                  <a:pt x="170916" y="80054"/>
                </a:moveTo>
                <a:lnTo>
                  <a:pt x="112210" y="80054"/>
                </a:lnTo>
                <a:cubicBezTo>
                  <a:pt x="106306" y="80054"/>
                  <a:pt x="101536" y="75285"/>
                  <a:pt x="101536" y="69381"/>
                </a:cubicBezTo>
                <a:lnTo>
                  <a:pt x="101536" y="10674"/>
                </a:lnTo>
                <a:cubicBezTo>
                  <a:pt x="101536" y="4770"/>
                  <a:pt x="106339" y="-67"/>
                  <a:pt x="112176" y="700"/>
                </a:cubicBezTo>
                <a:cubicBezTo>
                  <a:pt x="147867" y="5437"/>
                  <a:pt x="176153" y="33723"/>
                  <a:pt x="180890" y="69414"/>
                </a:cubicBezTo>
                <a:cubicBezTo>
                  <a:pt x="181657" y="75251"/>
                  <a:pt x="176820" y="80054"/>
                  <a:pt x="170916" y="80054"/>
                </a:cubicBezTo>
                <a:close/>
                <a:moveTo>
                  <a:pt x="74251" y="12408"/>
                </a:moveTo>
                <a:cubicBezTo>
                  <a:pt x="80288" y="11141"/>
                  <a:pt x="85525" y="16078"/>
                  <a:pt x="85525" y="22248"/>
                </a:cubicBezTo>
                <a:lnTo>
                  <a:pt x="85525" y="88060"/>
                </a:lnTo>
                <a:cubicBezTo>
                  <a:pt x="85525" y="89928"/>
                  <a:pt x="86192" y="91729"/>
                  <a:pt x="87359" y="93163"/>
                </a:cubicBezTo>
                <a:lnTo>
                  <a:pt x="131423" y="146333"/>
                </a:lnTo>
                <a:cubicBezTo>
                  <a:pt x="135325" y="151036"/>
                  <a:pt x="134492" y="158141"/>
                  <a:pt x="129121" y="161043"/>
                </a:cubicBezTo>
                <a:cubicBezTo>
                  <a:pt x="117747" y="167247"/>
                  <a:pt x="104705" y="170783"/>
                  <a:pt x="90862" y="170783"/>
                </a:cubicBezTo>
                <a:cubicBezTo>
                  <a:pt x="46665" y="170783"/>
                  <a:pt x="10807" y="134925"/>
                  <a:pt x="10807" y="90728"/>
                </a:cubicBezTo>
                <a:cubicBezTo>
                  <a:pt x="10807" y="52202"/>
                  <a:pt x="37993" y="20047"/>
                  <a:pt x="74251" y="12408"/>
                </a:cubicBezTo>
                <a:close/>
                <a:moveTo>
                  <a:pt x="159375" y="96065"/>
                </a:moveTo>
                <a:lnTo>
                  <a:pt x="180723" y="96065"/>
                </a:lnTo>
                <a:cubicBezTo>
                  <a:pt x="186894" y="96065"/>
                  <a:pt x="191831" y="101302"/>
                  <a:pt x="190563" y="107340"/>
                </a:cubicBezTo>
                <a:cubicBezTo>
                  <a:pt x="187161" y="123484"/>
                  <a:pt x="178888" y="137827"/>
                  <a:pt x="167347" y="148768"/>
                </a:cubicBezTo>
                <a:cubicBezTo>
                  <a:pt x="163244" y="152671"/>
                  <a:pt x="156807" y="151837"/>
                  <a:pt x="153204" y="147467"/>
                </a:cubicBezTo>
                <a:lnTo>
                  <a:pt x="125052" y="113544"/>
                </a:lnTo>
                <a:cubicBezTo>
                  <a:pt x="119281" y="106573"/>
                  <a:pt x="124251" y="96065"/>
                  <a:pt x="133257" y="96065"/>
                </a:cubicBezTo>
                <a:lnTo>
                  <a:pt x="159342" y="9606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8" name="Text 15"/>
          <p:cNvSpPr/>
          <p:nvPr/>
        </p:nvSpPr>
        <p:spPr>
          <a:xfrm>
            <a:off x="7058970" y="1366263"/>
            <a:ext cx="1722061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Cohort Overview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95304" y="1679365"/>
            <a:ext cx="1821684" cy="768523"/>
          </a:xfrm>
          <a:custGeom>
            <a:avLst/>
            <a:gdLst/>
            <a:ahLst/>
            <a:cxnLst/>
            <a:rect l="l" t="t" r="r" b="b"/>
            <a:pathLst>
              <a:path w="2428912" h="1024697">
                <a:moveTo>
                  <a:pt x="75899" y="0"/>
                </a:moveTo>
                <a:lnTo>
                  <a:pt x="2353013" y="0"/>
                </a:lnTo>
                <a:cubicBezTo>
                  <a:pt x="2394903" y="0"/>
                  <a:pt x="2428912" y="34009"/>
                  <a:pt x="2428912" y="75899"/>
                </a:cubicBezTo>
                <a:lnTo>
                  <a:pt x="2428912" y="948798"/>
                </a:lnTo>
                <a:cubicBezTo>
                  <a:pt x="2428912" y="990688"/>
                  <a:pt x="2394903" y="1024697"/>
                  <a:pt x="2353013" y="1024697"/>
                </a:cubicBezTo>
                <a:lnTo>
                  <a:pt x="75899" y="1024697"/>
                </a:lnTo>
                <a:cubicBezTo>
                  <a:pt x="34009" y="1024697"/>
                  <a:pt x="0" y="990688"/>
                  <a:pt x="0" y="948798"/>
                </a:cubicBezTo>
                <a:lnTo>
                  <a:pt x="0" y="75899"/>
                </a:lnTo>
                <a:cubicBezTo>
                  <a:pt x="0" y="33981"/>
                  <a:pt x="33981" y="0"/>
                  <a:pt x="758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0" name="Text 17"/>
          <p:cNvSpPr/>
          <p:nvPr/>
        </p:nvSpPr>
        <p:spPr>
          <a:xfrm>
            <a:off x="6923767" y="1793220"/>
            <a:ext cx="1764757" cy="34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2690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1,648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980695" y="2163250"/>
            <a:ext cx="1650902" cy="170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9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Patients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95304" y="2561744"/>
            <a:ext cx="1821684" cy="597740"/>
          </a:xfrm>
          <a:custGeom>
            <a:avLst/>
            <a:gdLst/>
            <a:ahLst/>
            <a:cxnLst/>
            <a:rect l="l" t="t" r="r" b="b"/>
            <a:pathLst>
              <a:path w="2428912" h="796987">
                <a:moveTo>
                  <a:pt x="75905" y="0"/>
                </a:moveTo>
                <a:lnTo>
                  <a:pt x="2353007" y="0"/>
                </a:lnTo>
                <a:cubicBezTo>
                  <a:pt x="2394928" y="0"/>
                  <a:pt x="2428912" y="33984"/>
                  <a:pt x="2428912" y="75905"/>
                </a:cubicBezTo>
                <a:lnTo>
                  <a:pt x="2428912" y="721082"/>
                </a:lnTo>
                <a:cubicBezTo>
                  <a:pt x="2428912" y="763003"/>
                  <a:pt x="2394928" y="796987"/>
                  <a:pt x="2353007" y="796987"/>
                </a:cubicBezTo>
                <a:lnTo>
                  <a:pt x="75905" y="796987"/>
                </a:lnTo>
                <a:cubicBezTo>
                  <a:pt x="34012" y="796987"/>
                  <a:pt x="0" y="762975"/>
                  <a:pt x="0" y="721082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3" name="Text 20"/>
          <p:cNvSpPr/>
          <p:nvPr/>
        </p:nvSpPr>
        <p:spPr>
          <a:xfrm>
            <a:off x="6980695" y="2675599"/>
            <a:ext cx="227711" cy="142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IMV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83415" y="2647135"/>
            <a:ext cx="419841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1" b="1" dirty="0">
                <a:solidFill>
                  <a:srgbClr val="C75B3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81.3%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980695" y="2874845"/>
            <a:ext cx="1650902" cy="56928"/>
          </a:xfrm>
          <a:custGeom>
            <a:avLst/>
            <a:gdLst/>
            <a:ahLst/>
            <a:cxnLst/>
            <a:rect l="l" t="t" r="r" b="b"/>
            <a:pathLst>
              <a:path w="2201202" h="75904">
                <a:moveTo>
                  <a:pt x="37952" y="0"/>
                </a:moveTo>
                <a:lnTo>
                  <a:pt x="2163250" y="0"/>
                </a:lnTo>
                <a:cubicBezTo>
                  <a:pt x="2184210" y="0"/>
                  <a:pt x="2201202" y="16992"/>
                  <a:pt x="2201202" y="37952"/>
                </a:cubicBezTo>
                <a:lnTo>
                  <a:pt x="2201202" y="37952"/>
                </a:lnTo>
                <a:cubicBezTo>
                  <a:pt x="2201202" y="58912"/>
                  <a:pt x="2184210" y="75904"/>
                  <a:pt x="2163250" y="75904"/>
                </a:cubicBezTo>
                <a:lnTo>
                  <a:pt x="37952" y="75904"/>
                </a:lnTo>
                <a:cubicBezTo>
                  <a:pt x="17006" y="75904"/>
                  <a:pt x="0" y="58898"/>
                  <a:pt x="0" y="37952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6" name="Shape 23"/>
          <p:cNvSpPr/>
          <p:nvPr/>
        </p:nvSpPr>
        <p:spPr>
          <a:xfrm>
            <a:off x="6980695" y="2874845"/>
            <a:ext cx="1344915" cy="56928"/>
          </a:xfrm>
          <a:custGeom>
            <a:avLst/>
            <a:gdLst/>
            <a:ahLst/>
            <a:cxnLst/>
            <a:rect l="l" t="t" r="r" b="b"/>
            <a:pathLst>
              <a:path w="1793220" h="75904">
                <a:moveTo>
                  <a:pt x="37952" y="0"/>
                </a:moveTo>
                <a:lnTo>
                  <a:pt x="1755268" y="0"/>
                </a:lnTo>
                <a:cubicBezTo>
                  <a:pt x="1776229" y="0"/>
                  <a:pt x="1793220" y="16992"/>
                  <a:pt x="1793220" y="37952"/>
                </a:cubicBezTo>
                <a:lnTo>
                  <a:pt x="1793220" y="37952"/>
                </a:lnTo>
                <a:cubicBezTo>
                  <a:pt x="1793220" y="58912"/>
                  <a:pt x="1776229" y="75904"/>
                  <a:pt x="1755268" y="75904"/>
                </a:cubicBezTo>
                <a:lnTo>
                  <a:pt x="37952" y="75904"/>
                </a:lnTo>
                <a:cubicBezTo>
                  <a:pt x="17006" y="75904"/>
                  <a:pt x="0" y="58898"/>
                  <a:pt x="0" y="37952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7" name="Text 24"/>
          <p:cNvSpPr/>
          <p:nvPr/>
        </p:nvSpPr>
        <p:spPr>
          <a:xfrm>
            <a:off x="6980695" y="2960237"/>
            <a:ext cx="1693597" cy="113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672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1,340 patients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95304" y="3244876"/>
            <a:ext cx="1821684" cy="597740"/>
          </a:xfrm>
          <a:custGeom>
            <a:avLst/>
            <a:gdLst/>
            <a:ahLst/>
            <a:cxnLst/>
            <a:rect l="l" t="t" r="r" b="b"/>
            <a:pathLst>
              <a:path w="2428912" h="796987">
                <a:moveTo>
                  <a:pt x="75905" y="0"/>
                </a:moveTo>
                <a:lnTo>
                  <a:pt x="2353007" y="0"/>
                </a:lnTo>
                <a:cubicBezTo>
                  <a:pt x="2394928" y="0"/>
                  <a:pt x="2428912" y="33984"/>
                  <a:pt x="2428912" y="75905"/>
                </a:cubicBezTo>
                <a:lnTo>
                  <a:pt x="2428912" y="721082"/>
                </a:lnTo>
                <a:cubicBezTo>
                  <a:pt x="2428912" y="763003"/>
                  <a:pt x="2394928" y="796987"/>
                  <a:pt x="2353007" y="796987"/>
                </a:cubicBezTo>
                <a:lnTo>
                  <a:pt x="75905" y="796987"/>
                </a:lnTo>
                <a:cubicBezTo>
                  <a:pt x="34012" y="796987"/>
                  <a:pt x="0" y="762975"/>
                  <a:pt x="0" y="721082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9" name="Text 26"/>
          <p:cNvSpPr/>
          <p:nvPr/>
        </p:nvSpPr>
        <p:spPr>
          <a:xfrm>
            <a:off x="6980695" y="3358731"/>
            <a:ext cx="633320" cy="142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78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Non-Invasive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294533" y="3330266"/>
            <a:ext cx="412725" cy="19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18.7%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980695" y="3557977"/>
            <a:ext cx="1650902" cy="56928"/>
          </a:xfrm>
          <a:custGeom>
            <a:avLst/>
            <a:gdLst/>
            <a:ahLst/>
            <a:cxnLst/>
            <a:rect l="l" t="t" r="r" b="b"/>
            <a:pathLst>
              <a:path w="2201202" h="75904">
                <a:moveTo>
                  <a:pt x="37952" y="0"/>
                </a:moveTo>
                <a:lnTo>
                  <a:pt x="2163250" y="0"/>
                </a:lnTo>
                <a:cubicBezTo>
                  <a:pt x="2184210" y="0"/>
                  <a:pt x="2201202" y="16992"/>
                  <a:pt x="2201202" y="37952"/>
                </a:cubicBezTo>
                <a:lnTo>
                  <a:pt x="2201202" y="37952"/>
                </a:lnTo>
                <a:cubicBezTo>
                  <a:pt x="2201202" y="58912"/>
                  <a:pt x="2184210" y="75904"/>
                  <a:pt x="2163250" y="75904"/>
                </a:cubicBezTo>
                <a:lnTo>
                  <a:pt x="37952" y="75904"/>
                </a:lnTo>
                <a:cubicBezTo>
                  <a:pt x="17006" y="75904"/>
                  <a:pt x="0" y="58898"/>
                  <a:pt x="0" y="37952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2" name="Shape 29"/>
          <p:cNvSpPr/>
          <p:nvPr/>
        </p:nvSpPr>
        <p:spPr>
          <a:xfrm>
            <a:off x="6980695" y="3557977"/>
            <a:ext cx="305986" cy="56928"/>
          </a:xfrm>
          <a:custGeom>
            <a:avLst/>
            <a:gdLst/>
            <a:ahLst/>
            <a:cxnLst/>
            <a:rect l="l" t="t" r="r" b="b"/>
            <a:pathLst>
              <a:path w="407981" h="75904">
                <a:moveTo>
                  <a:pt x="37952" y="0"/>
                </a:moveTo>
                <a:lnTo>
                  <a:pt x="370030" y="0"/>
                </a:lnTo>
                <a:cubicBezTo>
                  <a:pt x="390976" y="0"/>
                  <a:pt x="407981" y="17006"/>
                  <a:pt x="407981" y="37952"/>
                </a:cubicBezTo>
                <a:lnTo>
                  <a:pt x="407981" y="37952"/>
                </a:lnTo>
                <a:cubicBezTo>
                  <a:pt x="407981" y="58898"/>
                  <a:pt x="390976" y="75904"/>
                  <a:pt x="370030" y="75904"/>
                </a:cubicBezTo>
                <a:lnTo>
                  <a:pt x="37952" y="75904"/>
                </a:lnTo>
                <a:cubicBezTo>
                  <a:pt x="17006" y="75904"/>
                  <a:pt x="0" y="58898"/>
                  <a:pt x="0" y="37952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3" name="Text 30"/>
          <p:cNvSpPr/>
          <p:nvPr/>
        </p:nvSpPr>
        <p:spPr>
          <a:xfrm>
            <a:off x="6980695" y="3643369"/>
            <a:ext cx="1693597" cy="113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672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308 patients (70 later switched to IMV)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760100" y="4555990"/>
            <a:ext cx="2092091" cy="583508"/>
          </a:xfrm>
          <a:custGeom>
            <a:avLst/>
            <a:gdLst/>
            <a:ahLst/>
            <a:cxnLst/>
            <a:rect l="l" t="t" r="r" b="b"/>
            <a:pathLst>
              <a:path w="2789454" h="778011">
                <a:moveTo>
                  <a:pt x="75903" y="0"/>
                </a:moveTo>
                <a:lnTo>
                  <a:pt x="2713551" y="0"/>
                </a:lnTo>
                <a:cubicBezTo>
                  <a:pt x="2755471" y="0"/>
                  <a:pt x="2789454" y="33983"/>
                  <a:pt x="2789454" y="75903"/>
                </a:cubicBezTo>
                <a:lnTo>
                  <a:pt x="2789454" y="702108"/>
                </a:lnTo>
                <a:cubicBezTo>
                  <a:pt x="2789454" y="744028"/>
                  <a:pt x="2755471" y="778011"/>
                  <a:pt x="2713551" y="778011"/>
                </a:cubicBezTo>
                <a:lnTo>
                  <a:pt x="75903" y="778011"/>
                </a:lnTo>
                <a:cubicBezTo>
                  <a:pt x="33983" y="778011"/>
                  <a:pt x="0" y="744028"/>
                  <a:pt x="0" y="702108"/>
                </a:cubicBezTo>
                <a:lnTo>
                  <a:pt x="0" y="75903"/>
                </a:lnTo>
                <a:cubicBezTo>
                  <a:pt x="0" y="34011"/>
                  <a:pt x="34011" y="0"/>
                  <a:pt x="75903" y="0"/>
                </a:cubicBezTo>
                <a:close/>
              </a:path>
            </a:pathLst>
          </a:custGeom>
          <a:solidFill>
            <a:srgbClr val="F8F9FA"/>
          </a:solidFill>
          <a:ln w="25400">
            <a:solidFill>
              <a:srgbClr val="C75B39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5" name="Shape 32"/>
          <p:cNvSpPr/>
          <p:nvPr/>
        </p:nvSpPr>
        <p:spPr>
          <a:xfrm>
            <a:off x="6916985" y="4701867"/>
            <a:ext cx="113855" cy="113855"/>
          </a:xfrm>
          <a:custGeom>
            <a:avLst/>
            <a:gdLst/>
            <a:ahLst/>
            <a:cxnLst/>
            <a:rect l="l" t="t" r="r" b="b"/>
            <a:pathLst>
              <a:path w="151807" h="151807">
                <a:moveTo>
                  <a:pt x="149020" y="82604"/>
                </a:moveTo>
                <a:cubicBezTo>
                  <a:pt x="152726" y="78898"/>
                  <a:pt x="152726" y="72879"/>
                  <a:pt x="149020" y="69173"/>
                </a:cubicBezTo>
                <a:lnTo>
                  <a:pt x="101580" y="21733"/>
                </a:lnTo>
                <a:cubicBezTo>
                  <a:pt x="97874" y="18027"/>
                  <a:pt x="91855" y="18027"/>
                  <a:pt x="88149" y="21733"/>
                </a:cubicBezTo>
                <a:cubicBezTo>
                  <a:pt x="84443" y="25440"/>
                  <a:pt x="84443" y="31458"/>
                  <a:pt x="88149" y="35165"/>
                </a:cubicBezTo>
                <a:lnTo>
                  <a:pt x="119400" y="66416"/>
                </a:lnTo>
                <a:lnTo>
                  <a:pt x="9488" y="66416"/>
                </a:lnTo>
                <a:cubicBezTo>
                  <a:pt x="4240" y="66416"/>
                  <a:pt x="0" y="70655"/>
                  <a:pt x="0" y="75904"/>
                </a:cubicBezTo>
                <a:cubicBezTo>
                  <a:pt x="0" y="81152"/>
                  <a:pt x="4240" y="85391"/>
                  <a:pt x="9488" y="85391"/>
                </a:cubicBezTo>
                <a:lnTo>
                  <a:pt x="119400" y="85391"/>
                </a:lnTo>
                <a:lnTo>
                  <a:pt x="88149" y="116642"/>
                </a:lnTo>
                <a:cubicBezTo>
                  <a:pt x="84443" y="120349"/>
                  <a:pt x="84443" y="126367"/>
                  <a:pt x="88149" y="130074"/>
                </a:cubicBezTo>
                <a:cubicBezTo>
                  <a:pt x="91855" y="133780"/>
                  <a:pt x="97874" y="133780"/>
                  <a:pt x="101580" y="130074"/>
                </a:cubicBezTo>
                <a:lnTo>
                  <a:pt x="149020" y="82634"/>
                </a:lnTo>
                <a:close/>
              </a:path>
            </a:pathLst>
          </a:custGeom>
          <a:solidFill>
            <a:srgbClr val="C75B3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6" name="Text 33"/>
          <p:cNvSpPr/>
          <p:nvPr/>
        </p:nvSpPr>
        <p:spPr>
          <a:xfrm>
            <a:off x="7037456" y="4676961"/>
            <a:ext cx="1722227" cy="341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896" b="1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Causal adjustment applied using 18 pre-treatment covariates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1137" y="281137"/>
            <a:ext cx="8637953" cy="1686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4A90A4"/>
                </a:solidFill>
                <a:latin typeface="Calibri"/>
              </a:rPr>
              <a:t>RESULTS  ·  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137" y="506047"/>
            <a:ext cx="8708237" cy="350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Calibri"/>
              </a:rPr>
              <a:t>Average Treatment Effect on the Treated (Propensity Score Matching)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657600" cy="347472"/>
          </a:xfrm>
          <a:prstGeom prst="rect">
            <a:avLst/>
          </a:prstGeom>
          <a:solidFill>
            <a:srgbClr val="0B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3657600" cy="1481328"/>
          </a:xfrm>
          <a:prstGeom prst="rect">
            <a:avLst/>
          </a:prstGeom>
          <a:solidFill>
            <a:srgbClr val="F4FAFC"/>
          </a:solidFill>
          <a:ln w="6350">
            <a:solidFill>
              <a:srgbClr val="D8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3657600" cy="347472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METHOD: 1:1 NEAREST-NEIGHBOUR PSM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3429000" cy="115640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dirty="0">
                <a:solidFill>
                  <a:srgbClr val="0B6E8A"/>
                </a:solidFill>
                <a:latin typeface="Calibri"/>
              </a:rPr>
              <a:t>•  </a:t>
            </a:r>
            <a:r>
              <a:rPr sz="1100" b="0" i="0" dirty="0">
                <a:solidFill>
                  <a:srgbClr val="0D2137"/>
                </a:solidFill>
                <a:latin typeface="Calibri"/>
              </a:rPr>
              <a:t>Matched on log-odds of propensity score</a:t>
            </a:r>
          </a:p>
          <a:p>
            <a:pPr algn="l">
              <a:lnSpc>
                <a:spcPct val="130000"/>
              </a:lnSpc>
            </a:pPr>
            <a:r>
              <a:rPr sz="1100" b="1" i="0" dirty="0">
                <a:solidFill>
                  <a:srgbClr val="0B6E8A"/>
                </a:solidFill>
                <a:latin typeface="Calibri"/>
              </a:rPr>
              <a:t>•  </a:t>
            </a:r>
            <a:r>
              <a:rPr sz="1100" b="0" i="0" dirty="0">
                <a:solidFill>
                  <a:srgbClr val="0D2137"/>
                </a:solidFill>
                <a:latin typeface="Calibri"/>
              </a:rPr>
              <a:t>Caliper: 0.2 SD of log-odds PS</a:t>
            </a:r>
          </a:p>
          <a:p>
            <a:pPr algn="l">
              <a:lnSpc>
                <a:spcPct val="130000"/>
              </a:lnSpc>
            </a:pPr>
            <a:r>
              <a:rPr sz="1100" b="1" i="0" dirty="0">
                <a:solidFill>
                  <a:srgbClr val="0B6E8A"/>
                </a:solidFill>
                <a:latin typeface="Calibri"/>
              </a:rPr>
              <a:t>•  </a:t>
            </a:r>
            <a:r>
              <a:rPr sz="1100" b="0" i="0" dirty="0">
                <a:solidFill>
                  <a:srgbClr val="0D2137"/>
                </a:solidFill>
                <a:latin typeface="Calibri"/>
              </a:rPr>
              <a:t>Matching without replacement</a:t>
            </a:r>
          </a:p>
          <a:p>
            <a:pPr algn="l">
              <a:lnSpc>
                <a:spcPct val="130000"/>
              </a:lnSpc>
            </a:pPr>
            <a:r>
              <a:rPr sz="1100" b="1" i="0" dirty="0">
                <a:solidFill>
                  <a:srgbClr val="0B6E8A"/>
                </a:solidFill>
                <a:latin typeface="Calibri"/>
              </a:rPr>
              <a:t>•  </a:t>
            </a:r>
            <a:r>
              <a:rPr sz="1100" b="0" i="0" dirty="0">
                <a:solidFill>
                  <a:srgbClr val="0D2137"/>
                </a:solidFill>
                <a:latin typeface="Calibri"/>
              </a:rPr>
              <a:t>18 covariates</a:t>
            </a:r>
          </a:p>
          <a:p>
            <a:pPr algn="l">
              <a:lnSpc>
                <a:spcPct val="130000"/>
              </a:lnSpc>
            </a:pPr>
            <a:r>
              <a:rPr sz="1100" b="1" i="0" dirty="0">
                <a:solidFill>
                  <a:srgbClr val="0B6E8A"/>
                </a:solidFill>
                <a:latin typeface="Calibri"/>
              </a:rPr>
              <a:t>•  </a:t>
            </a:r>
            <a:r>
              <a:rPr sz="1100" b="0" i="0" dirty="0">
                <a:solidFill>
                  <a:srgbClr val="0D2137"/>
                </a:solidFill>
                <a:latin typeface="Calibri"/>
              </a:rPr>
              <a:t>95% CI via bootstrap (1,000 samples)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43000"/>
            <a:ext cx="2377440" cy="18288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1280160"/>
            <a:ext cx="237744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 dirty="0">
                <a:solidFill>
                  <a:srgbClr val="18B4CC"/>
                </a:solidFill>
                <a:latin typeface="Calibri"/>
              </a:rPr>
              <a:t>ODDS RATIO (</a:t>
            </a:r>
            <a:r>
              <a:rPr lang="en-US" sz="1000" b="1" dirty="0">
                <a:solidFill>
                  <a:srgbClr val="18B4CC"/>
                </a:solidFill>
                <a:latin typeface="Calibri"/>
              </a:rPr>
              <a:t>Non-Invasive over Invasive</a:t>
            </a:r>
            <a:r>
              <a:rPr sz="1000" b="1" i="0" dirty="0">
                <a:solidFill>
                  <a:srgbClr val="18B4CC"/>
                </a:solidFill>
                <a:latin typeface="Calibri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581912"/>
            <a:ext cx="2377440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  <a:latin typeface="Calibri"/>
              </a:rPr>
              <a:t>1.93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377440"/>
            <a:ext cx="23774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C8EEF7"/>
                </a:solidFill>
                <a:latin typeface="Calibri"/>
              </a:rPr>
              <a:t>95% CI  [1.33,  2.82]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651760"/>
            <a:ext cx="23774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0" i="1">
                <a:solidFill>
                  <a:srgbClr val="6B8FA0"/>
                </a:solidFill>
                <a:latin typeface="Calibri"/>
              </a:rPr>
              <a:t>28-day mortality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143000"/>
            <a:ext cx="2194560" cy="347472"/>
          </a:xfrm>
          <a:prstGeom prst="rect">
            <a:avLst/>
          </a:prstGeom>
          <a:solidFill>
            <a:srgbClr val="E86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75120" y="1490472"/>
            <a:ext cx="2194560" cy="1481328"/>
          </a:xfrm>
          <a:prstGeom prst="rect">
            <a:avLst/>
          </a:prstGeom>
          <a:solidFill>
            <a:srgbClr val="F4FAFC"/>
          </a:solidFill>
          <a:ln w="6350">
            <a:solidFill>
              <a:srgbClr val="D8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143000"/>
            <a:ext cx="2194560" cy="347472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DIRECTION OF 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572768"/>
            <a:ext cx="192024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Among patients who actually received non-invasive ventilation, the odds of 28-day mortality were nearly 2× higher compared with the counterfactual of having received IMV instead.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46120"/>
            <a:ext cx="8549640" cy="1508760"/>
          </a:xfrm>
          <a:prstGeom prst="rect">
            <a:avLst/>
          </a:prstGeom>
          <a:solidFill>
            <a:srgbClr val="F4FAFC"/>
          </a:solidFill>
          <a:ln w="12700">
            <a:solidFill>
              <a:srgbClr val="C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246120"/>
            <a:ext cx="73152" cy="1508760"/>
          </a:xfrm>
          <a:prstGeom prst="rect">
            <a:avLst/>
          </a:prstGeom>
          <a:solidFill>
            <a:srgbClr val="0B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8229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B6E8A"/>
                </a:solidFill>
                <a:latin typeface="Calibri"/>
              </a:rPr>
              <a:t>CLINICAL 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03320"/>
            <a:ext cx="8229600" cy="9363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 dirty="0">
                <a:solidFill>
                  <a:srgbClr val="0D2137"/>
                </a:solidFill>
                <a:latin typeface="Calibri"/>
              </a:rPr>
              <a:t>The ATT addresses a practical clinical question: </a:t>
            </a:r>
            <a:r>
              <a:rPr sz="1100" b="0" i="0" dirty="0">
                <a:solidFill>
                  <a:srgbClr val="0D2137"/>
                </a:solidFill>
                <a:latin typeface="Calibri"/>
              </a:rPr>
              <a:t>for patients who were in fact </a:t>
            </a:r>
            <a:r>
              <a:rPr lang="en-US" sz="1100" b="0" i="0" dirty="0">
                <a:solidFill>
                  <a:srgbClr val="0D2137"/>
                </a:solidFill>
                <a:latin typeface="Calibri"/>
              </a:rPr>
              <a:t>intubated</a:t>
            </a:r>
            <a:r>
              <a:rPr sz="1100" b="0" i="0" dirty="0">
                <a:solidFill>
                  <a:srgbClr val="0D2137"/>
                </a:solidFill>
                <a:latin typeface="Calibri"/>
              </a:rPr>
              <a:t>, what would their outcome have been if they had instead </a:t>
            </a:r>
            <a:r>
              <a:rPr lang="en-US" sz="1100" dirty="0">
                <a:solidFill>
                  <a:srgbClr val="0D2137"/>
                </a:solidFill>
                <a:latin typeface="Calibri"/>
              </a:rPr>
              <a:t>received non-invasive ventilation</a:t>
            </a:r>
            <a:r>
              <a:rPr sz="1100" b="0" i="0" dirty="0">
                <a:solidFill>
                  <a:srgbClr val="0D2137"/>
                </a:solidFill>
                <a:latin typeface="Calibri"/>
              </a:rPr>
              <a:t>? The harmful direction suggests that delayed intubation following non-invasive failure may have contributed to worse outcomes in this subgroup.</a:t>
            </a:r>
          </a:p>
          <a:p>
            <a:pPr algn="l">
              <a:lnSpc>
                <a:spcPct val="130000"/>
              </a:lnSpc>
            </a:pPr>
            <a:r>
              <a:rPr sz="1100" b="0" i="1" dirty="0">
                <a:solidFill>
                  <a:srgbClr val="0B6E8A"/>
                </a:solidFill>
                <a:latin typeface="Calibri"/>
              </a:rPr>
              <a:t>This estimate is most relevant for guiding decisions in patients similar to those in the treated (non-invasive) group.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8315572A-088B-06AB-615F-85DA749EF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466" y="482600"/>
            <a:ext cx="5571066" cy="41782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2247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1137" y="281137"/>
            <a:ext cx="8637953" cy="1686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4A90A4"/>
                </a:solidFill>
                <a:latin typeface="Calibri"/>
              </a:rPr>
              <a:t>RESULTS  ·  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137" y="506047"/>
            <a:ext cx="8708237" cy="350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Calibri"/>
              </a:rPr>
              <a:t>Average Treatment Effect at the Population Level (Doubly Robust IPW)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657600" cy="347472"/>
          </a:xfrm>
          <a:prstGeom prst="rect">
            <a:avLst/>
          </a:prstGeom>
          <a:solidFill>
            <a:srgbClr val="0B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3657600" cy="1481328"/>
          </a:xfrm>
          <a:prstGeom prst="rect">
            <a:avLst/>
          </a:prstGeom>
          <a:solidFill>
            <a:srgbClr val="F4FAFC"/>
          </a:solidFill>
          <a:ln w="6350">
            <a:solidFill>
              <a:srgbClr val="D8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3657600" cy="347472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METHOD: DOUBLY ROBUST IPW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342900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B6E8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0D2137"/>
                </a:solidFill>
                <a:latin typeface="Calibri"/>
              </a:rPr>
              <a:t>Combines PS weighting with outcome regression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B6E8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0D2137"/>
                </a:solidFill>
                <a:latin typeface="Calibri"/>
              </a:rPr>
              <a:t>Consistent if either model is correct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B6E8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0D2137"/>
                </a:solidFill>
                <a:latin typeface="Calibri"/>
              </a:rPr>
              <a:t>Overlap trimming: weights capped at 10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B6E8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0D2137"/>
                </a:solidFill>
                <a:latin typeface="Calibri"/>
              </a:rPr>
              <a:t>Covariate balance: SMD &lt; 0.10</a:t>
            </a:r>
          </a:p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0B6E8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0D2137"/>
                </a:solidFill>
                <a:latin typeface="Calibri"/>
              </a:rPr>
              <a:t>95% CI via bootstrap (1,000 samples)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143000"/>
            <a:ext cx="2377440" cy="18288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1280160"/>
            <a:ext cx="237744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i="0" dirty="0">
                <a:solidFill>
                  <a:srgbClr val="18B4CC"/>
                </a:solidFill>
                <a:latin typeface="Calibri"/>
              </a:rPr>
              <a:t>ODDS RATIO (</a:t>
            </a:r>
            <a:r>
              <a:rPr lang="en-US" sz="1000" b="1" dirty="0">
                <a:solidFill>
                  <a:srgbClr val="18B4CC"/>
                </a:solidFill>
                <a:latin typeface="Calibri"/>
              </a:rPr>
              <a:t>Non-invasive vs Invasive</a:t>
            </a:r>
            <a:r>
              <a:rPr sz="1000" b="1" i="0" dirty="0">
                <a:solidFill>
                  <a:srgbClr val="18B4CC"/>
                </a:solidFill>
                <a:latin typeface="Calibri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581912"/>
            <a:ext cx="2377440" cy="8229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  <a:latin typeface="Calibri"/>
              </a:rPr>
              <a:t>1.87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377440"/>
            <a:ext cx="23774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C8EEF7"/>
                </a:solidFill>
                <a:latin typeface="Calibri"/>
              </a:rPr>
              <a:t>95% CI  [1.40,  2.47]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651760"/>
            <a:ext cx="2377440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0" i="1">
                <a:solidFill>
                  <a:srgbClr val="6B8FA0"/>
                </a:solidFill>
                <a:latin typeface="Calibri"/>
              </a:rPr>
              <a:t>28-day mortality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143000"/>
            <a:ext cx="2194560" cy="347472"/>
          </a:xfrm>
          <a:prstGeom prst="rect">
            <a:avLst/>
          </a:prstGeom>
          <a:solidFill>
            <a:srgbClr val="E86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75120" y="1490472"/>
            <a:ext cx="2194560" cy="1481328"/>
          </a:xfrm>
          <a:prstGeom prst="rect">
            <a:avLst/>
          </a:prstGeom>
          <a:solidFill>
            <a:srgbClr val="F4FAFC"/>
          </a:solidFill>
          <a:ln w="6350">
            <a:solidFill>
              <a:srgbClr val="D8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143000"/>
            <a:ext cx="2194560" cy="347472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POPULATION-LEVEL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572768"/>
            <a:ext cx="1920240" cy="1371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If the entire cohort received non-invasive ventilation vs IMV, the average odds of 28-day mortality would be approximately 87% higher on the NI strategy.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46120"/>
            <a:ext cx="8549640" cy="1508760"/>
          </a:xfrm>
          <a:prstGeom prst="rect">
            <a:avLst/>
          </a:prstGeom>
          <a:solidFill>
            <a:srgbClr val="F4FAFC"/>
          </a:solidFill>
          <a:ln w="12700">
            <a:solidFill>
              <a:srgbClr val="C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3246120"/>
            <a:ext cx="73152" cy="1508760"/>
          </a:xfrm>
          <a:prstGeom prst="rect">
            <a:avLst/>
          </a:prstGeom>
          <a:solidFill>
            <a:srgbClr val="E8A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8229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8A020"/>
                </a:solidFill>
                <a:latin typeface="Calibri"/>
              </a:rPr>
              <a:t>IMPORTANT CAVEAT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03320"/>
            <a:ext cx="822960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 dirty="0">
                <a:solidFill>
                  <a:srgbClr val="0D2137"/>
                </a:solidFill>
                <a:latin typeface="Calibri"/>
              </a:rPr>
              <a:t>The ATE assumes both strategies are suitable for every patient — a condition not met in practice. Many patients who received IMV would not have been appropriate candidates for non-invasive support due to depressed consciousness, inability to protect the airway, </a:t>
            </a:r>
            <a:r>
              <a:rPr sz="1100" b="0" i="0" dirty="0" err="1">
                <a:solidFill>
                  <a:srgbClr val="0D2137"/>
                </a:solidFill>
                <a:latin typeface="Calibri"/>
              </a:rPr>
              <a:t>haemodynamic</a:t>
            </a:r>
            <a:r>
              <a:rPr sz="1100" b="0" i="0" dirty="0">
                <a:solidFill>
                  <a:srgbClr val="0D2137"/>
                </a:solidFill>
                <a:latin typeface="Calibri"/>
              </a:rPr>
              <a:t> instability, or severity of respiratory failure. The ATE should therefore be interpreted as a theoretical reference point rather than a directly actionable estimate.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weight distribution&#10;&#10;AI-generated content may be incorrect.">
            <a:extLst>
              <a:ext uri="{FF2B5EF4-FFF2-40B4-BE49-F238E27FC236}">
                <a16:creationId xmlns:a16="http://schemas.microsoft.com/office/drawing/2014/main" id="{EAFB1741-8BCE-CBD7-5D82-2C208887B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77" y="-1"/>
            <a:ext cx="8648020" cy="509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72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1137" y="281137"/>
            <a:ext cx="8637953" cy="1686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4A90A4"/>
                </a:solidFill>
                <a:latin typeface="Calibri"/>
              </a:rPr>
              <a:t>RESULTS  · 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137" y="506047"/>
            <a:ext cx="8708237" cy="350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Calibri"/>
              </a:rPr>
              <a:t>Sensitivity Analysis: Robustness Across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85039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0D2137"/>
                </a:solidFill>
                <a:latin typeface="Calibri"/>
              </a:rPr>
              <a:t>The robustness of estimated treatment effects was assessed by varying (i) the mortality endpoint and (ii) the treatment group definition. Both ATT and ATE remained consistent across specifications.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4160520" cy="347472"/>
          </a:xfrm>
          <a:prstGeom prst="rect">
            <a:avLst/>
          </a:prstGeom>
          <a:solidFill>
            <a:srgbClr val="0B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2039112"/>
            <a:ext cx="4160520" cy="2167128"/>
          </a:xfrm>
          <a:prstGeom prst="rect">
            <a:avLst/>
          </a:prstGeom>
          <a:solidFill>
            <a:srgbClr val="F4FAFC"/>
          </a:solidFill>
          <a:ln w="6350">
            <a:solidFill>
              <a:srgbClr val="D8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691640"/>
            <a:ext cx="4160520" cy="347472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Calibri"/>
              </a:rPr>
              <a:t>OUTCOME DEFINITION: 28-DAY vs HOSPITAL MORTALITY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3886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 dirty="0">
                <a:solidFill>
                  <a:srgbClr val="0B6E8A"/>
                </a:solidFill>
                <a:latin typeface="Calibri"/>
              </a:rPr>
              <a:t>Effect sizes were smaller for 28-day than hospital mortality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96312"/>
            <a:ext cx="1828800" cy="292608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96312"/>
            <a:ext cx="1828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28-day mortality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2496312"/>
            <a:ext cx="1828800" cy="292608"/>
          </a:xfrm>
          <a:prstGeom prst="rect">
            <a:avLst/>
          </a:prstGeom>
          <a:solidFill>
            <a:srgbClr val="0B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1720" y="2496312"/>
            <a:ext cx="1828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Hospital mortality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35423"/>
            <a:ext cx="1828800" cy="27392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n-US" sz="1300" b="1" i="0" dirty="0">
                <a:solidFill>
                  <a:srgbClr val="0D2137"/>
                </a:solidFill>
                <a:latin typeface="Calibri"/>
              </a:rPr>
              <a:t>Short-term Survival</a:t>
            </a:r>
            <a:endParaRPr sz="1300" b="1" i="0" dirty="0">
              <a:solidFill>
                <a:srgbClr val="0D2137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2935423"/>
            <a:ext cx="1828800" cy="273921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n-US" sz="1300" b="1" dirty="0">
                <a:solidFill>
                  <a:srgbClr val="0B6E8A"/>
                </a:solidFill>
                <a:latin typeface="Calibri"/>
              </a:rPr>
              <a:t>Immediate Survival</a:t>
            </a:r>
            <a:endParaRPr sz="1300" b="1" i="0" dirty="0">
              <a:solidFill>
                <a:srgbClr val="0B6E8A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3273552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0" i="1">
                <a:solidFill>
                  <a:srgbClr val="6B8FA0"/>
                </a:solidFill>
                <a:latin typeface="Calibri"/>
              </a:rPr>
              <a:t>NI vs IMV — observed mortality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47872"/>
            <a:ext cx="38862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 dirty="0">
                <a:solidFill>
                  <a:srgbClr val="0D2137"/>
                </a:solidFill>
                <a:latin typeface="Calibri"/>
              </a:rPr>
              <a:t>The choice of mortality endpoint influences effect magnitude, though direction is preserved.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691640"/>
            <a:ext cx="4160520" cy="347472"/>
          </a:xfrm>
          <a:prstGeom prst="rect">
            <a:avLst/>
          </a:prstGeom>
          <a:solidFill>
            <a:srgbClr val="E86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2039112"/>
            <a:ext cx="4160520" cy="2167128"/>
          </a:xfrm>
          <a:prstGeom prst="rect">
            <a:avLst/>
          </a:prstGeom>
          <a:solidFill>
            <a:srgbClr val="F4FAFC"/>
          </a:solidFill>
          <a:ln w="6350">
            <a:solidFill>
              <a:srgbClr val="D8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1691640"/>
            <a:ext cx="4160520" cy="347472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TREATMENT REGIME: ITT vs PER-PROTOCOL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148840"/>
            <a:ext cx="3886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8644A"/>
                </a:solidFill>
                <a:latin typeface="Calibri"/>
              </a:rPr>
              <a:t>Per-protocol analysis produced a smaller effect 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2496312"/>
            <a:ext cx="1177413" cy="292608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724400" y="2509016"/>
            <a:ext cx="1285568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ITT (primary)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78013" y="2496312"/>
            <a:ext cx="1072699" cy="292608"/>
          </a:xfrm>
          <a:prstGeom prst="rect">
            <a:avLst/>
          </a:prstGeom>
          <a:solidFill>
            <a:srgbClr val="E86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0615" y="2528737"/>
            <a:ext cx="1072699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Per-protocol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4400" y="2850784"/>
            <a:ext cx="1177413" cy="44319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0D2137"/>
                </a:solidFill>
                <a:latin typeface="Calibri"/>
              </a:rPr>
              <a:t>Include Non-compliant</a:t>
            </a:r>
            <a:endParaRPr sz="1200" b="1" i="0" dirty="0">
              <a:solidFill>
                <a:srgbClr val="0D2137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800600" y="3273552"/>
            <a:ext cx="3657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0" i="1">
                <a:solidFill>
                  <a:srgbClr val="6B8FA0"/>
                </a:solidFill>
                <a:latin typeface="Calibri"/>
              </a:rPr>
              <a:t>Treatment group definition — effect magnitude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625596"/>
            <a:ext cx="38862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 dirty="0">
                <a:solidFill>
                  <a:srgbClr val="0D2137"/>
                </a:solidFill>
                <a:latin typeface="Calibri"/>
              </a:rPr>
              <a:t>Allowing treatment switching may introduce a protective component — interpret tentatively given limited power.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343400"/>
            <a:ext cx="8549640" cy="50292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4343400"/>
            <a:ext cx="73152" cy="502920"/>
          </a:xfrm>
          <a:prstGeom prst="rect">
            <a:avLst/>
          </a:prstGeom>
          <a:solidFill>
            <a:srgbClr val="18B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343400"/>
            <a:ext cx="82296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8B4CC"/>
                </a:solidFill>
                <a:latin typeface="Calibri"/>
              </a:rPr>
              <a:t>BOTTOM LINE:  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No statistically significant differences between alternative specifications — primary findings are robust to outcome and treatment group definitions.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75572-E069-E411-86E7-3E5CDABBCF16}"/>
              </a:ext>
            </a:extLst>
          </p:cNvPr>
          <p:cNvSpPr txBox="1"/>
          <p:nvPr/>
        </p:nvSpPr>
        <p:spPr>
          <a:xfrm>
            <a:off x="7401232" y="2483018"/>
            <a:ext cx="1285568" cy="22775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ITT (primary)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F0DDC7-4718-586C-D5EE-2DB501D47C7A}"/>
              </a:ext>
            </a:extLst>
          </p:cNvPr>
          <p:cNvSpPr/>
          <p:nvPr/>
        </p:nvSpPr>
        <p:spPr>
          <a:xfrm>
            <a:off x="7050712" y="2495264"/>
            <a:ext cx="1177413" cy="292608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3C0D5A-BDDA-078F-958D-96E7895FE3F5}"/>
              </a:ext>
            </a:extLst>
          </p:cNvPr>
          <p:cNvSpPr txBox="1"/>
          <p:nvPr/>
        </p:nvSpPr>
        <p:spPr>
          <a:xfrm>
            <a:off x="6989752" y="2438499"/>
            <a:ext cx="1285568" cy="3816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ITT (</a:t>
            </a:r>
            <a:r>
              <a:rPr lang="en-US" sz="1000" b="1" i="0" dirty="0">
                <a:solidFill>
                  <a:srgbClr val="FFFFFF"/>
                </a:solidFill>
                <a:latin typeface="Calibri"/>
              </a:rPr>
              <a:t>include</a:t>
            </a:r>
            <a:r>
              <a:rPr lang="en-US" sz="1000" b="1" dirty="0">
                <a:solidFill>
                  <a:srgbClr val="FFFFFF"/>
                </a:solidFill>
                <a:latin typeface="Calibri"/>
              </a:rPr>
              <a:t> oxygen as treatment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94BE0B-9D0F-1E2C-6A60-517B1014E6F9}"/>
              </a:ext>
            </a:extLst>
          </p:cNvPr>
          <p:cNvSpPr txBox="1"/>
          <p:nvPr/>
        </p:nvSpPr>
        <p:spPr>
          <a:xfrm>
            <a:off x="7043829" y="2825893"/>
            <a:ext cx="1177413" cy="44319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0D2137"/>
                </a:solidFill>
                <a:latin typeface="Calibri"/>
              </a:rPr>
              <a:t>Include Non-compliant</a:t>
            </a:r>
            <a:endParaRPr sz="1200" b="1" i="0" dirty="0">
              <a:solidFill>
                <a:srgbClr val="0D2137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1E2E9C-A79F-FECE-76E8-411B4EB50401}"/>
              </a:ext>
            </a:extLst>
          </p:cNvPr>
          <p:cNvSpPr txBox="1"/>
          <p:nvPr/>
        </p:nvSpPr>
        <p:spPr>
          <a:xfrm>
            <a:off x="5925655" y="2841895"/>
            <a:ext cx="1177413" cy="44319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n-US" sz="1200" b="1" i="0" dirty="0">
                <a:solidFill>
                  <a:srgbClr val="0D2137"/>
                </a:solidFill>
                <a:latin typeface="Calibri"/>
              </a:rPr>
              <a:t>Allow treatment switching</a:t>
            </a:r>
            <a:endParaRPr sz="1200" b="1" i="0" dirty="0">
              <a:solidFill>
                <a:srgbClr val="0D21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colored lines and numbers&#10;&#10;AI-generated content may be incorrect.">
            <a:extLst>
              <a:ext uri="{FF2B5EF4-FFF2-40B4-BE49-F238E27FC236}">
                <a16:creationId xmlns:a16="http://schemas.microsoft.com/office/drawing/2014/main" id="{D97B4097-8BC2-E108-AB53-F91DB9767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0" y="482600"/>
            <a:ext cx="6259618" cy="4178299"/>
          </a:xfrm>
          <a:prstGeom prst="rect">
            <a:avLst/>
          </a:prstGeom>
          <a:ln>
            <a:noFill/>
          </a:ln>
        </p:spPr>
      </p:pic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01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5F723-AB89-1874-5A46-7058EC58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1768"/>
            <a:ext cx="1407490" cy="1324506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052897" y="4525250"/>
            <a:ext cx="484026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4290831"/>
            <a:ext cx="1696473" cy="852668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colored lines and black text&#10;&#10;AI-generated content may be incorrect.">
            <a:extLst>
              <a:ext uri="{FF2B5EF4-FFF2-40B4-BE49-F238E27FC236}">
                <a16:creationId xmlns:a16="http://schemas.microsoft.com/office/drawing/2014/main" id="{E1966A19-B860-9CAD-5D24-3DB5426AE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190" y="482600"/>
            <a:ext cx="6259618" cy="417829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1067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1137" y="281137"/>
            <a:ext cx="8637953" cy="1686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4A90A4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137" y="506047"/>
            <a:ext cx="8708237" cy="350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Calibri"/>
              </a:rPr>
              <a:t>Interpretation &amp; Clinical Implications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8549640" cy="73152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16152"/>
            <a:ext cx="8229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8B4CC"/>
                </a:solidFill>
                <a:latin typeface="Calibri"/>
              </a:rPr>
              <a:t>PRIMARY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82296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Both ATT and ATE indicate that non-invasive ventilation was associated with worse outcomes than IMV in this cancer ICU population — consistent direction across methodologically distinct estimators strengthens the conclusion.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57400"/>
            <a:ext cx="2788920" cy="347472"/>
          </a:xfrm>
          <a:prstGeom prst="rect">
            <a:avLst/>
          </a:prstGeom>
          <a:solidFill>
            <a:srgbClr val="0B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2404872"/>
            <a:ext cx="2788920" cy="1984248"/>
          </a:xfrm>
          <a:prstGeom prst="rect">
            <a:avLst/>
          </a:prstGeom>
          <a:solidFill>
            <a:srgbClr val="F4FAFC"/>
          </a:solidFill>
          <a:ln w="6350">
            <a:solidFill>
              <a:srgbClr val="D8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057400"/>
            <a:ext cx="2788920" cy="347472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ATT — WHO IT APPLIES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514600"/>
            <a:ext cx="2560320" cy="1783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Speaks to patients actually managed non-invasively. Worse outcomes may reflect:</a:t>
            </a:r>
          </a:p>
          <a:p>
            <a:pPr algn="l"/>
            <a:endParaRPr sz="1000" b="0" i="0">
              <a:solidFill>
                <a:srgbClr val="0D2137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•  Delayed intubation after NI failure</a:t>
            </a:r>
          </a:p>
          <a:p>
            <a:pPr algn="l"/>
            <a:endParaRPr sz="1000" b="0" i="0">
              <a:solidFill>
                <a:srgbClr val="0D2137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•  Residual confounding not captured by measured covariates</a:t>
            </a:r>
          </a:p>
          <a:p>
            <a:pPr algn="l"/>
            <a:endParaRPr sz="1000" b="0" i="0">
              <a:solidFill>
                <a:srgbClr val="0D2137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Most relevant for clinical decisions in patients similar to the treated group.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2057400"/>
            <a:ext cx="2788920" cy="347472"/>
          </a:xfrm>
          <a:prstGeom prst="rect">
            <a:avLst/>
          </a:prstGeom>
          <a:solidFill>
            <a:srgbClr val="E86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18688" y="2404872"/>
            <a:ext cx="2788920" cy="1984248"/>
          </a:xfrm>
          <a:prstGeom prst="rect">
            <a:avLst/>
          </a:prstGeom>
          <a:solidFill>
            <a:srgbClr val="F4FAFC"/>
          </a:solidFill>
          <a:ln w="6350">
            <a:solidFill>
              <a:srgbClr val="D8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18688" y="2057400"/>
            <a:ext cx="2788920" cy="347472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ATE — HYPOTHETICAL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514600"/>
            <a:ext cx="2560320" cy="1783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Represents a hypothetical world where every patient receives NI vs IMV.</a:t>
            </a:r>
          </a:p>
          <a:p>
            <a:pPr algn="l"/>
            <a:endParaRPr sz="1000" b="0" i="0">
              <a:solidFill>
                <a:srgbClr val="0D2137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Assumes both strategies are appropriate for every patient — often violated in practice.</a:t>
            </a:r>
          </a:p>
          <a:p>
            <a:pPr algn="l"/>
            <a:endParaRPr sz="1000" b="0" i="0">
              <a:solidFill>
                <a:srgbClr val="0D2137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Best interpreted as a theoretical reference, not a directly actionable policy.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2057400"/>
            <a:ext cx="2788920" cy="347472"/>
          </a:xfrm>
          <a:prstGeom prst="rect">
            <a:avLst/>
          </a:prstGeom>
          <a:solidFill>
            <a:srgbClr val="1A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17336" y="2404872"/>
            <a:ext cx="2788920" cy="1984248"/>
          </a:xfrm>
          <a:prstGeom prst="rect">
            <a:avLst/>
          </a:prstGeom>
          <a:solidFill>
            <a:srgbClr val="F4FAFC"/>
          </a:solidFill>
          <a:ln w="6350">
            <a:solidFill>
              <a:srgbClr val="D8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17336" y="2057400"/>
            <a:ext cx="2788920" cy="347472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CLINICAL IMPLICATION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514600"/>
            <a:ext cx="2560320" cy="1783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Non-invasive ventilation is not universally preferable in critically ill cancer patients.</a:t>
            </a:r>
          </a:p>
          <a:p>
            <a:pPr algn="l"/>
            <a:endParaRPr sz="1000" b="0" i="0">
              <a:solidFill>
                <a:srgbClr val="0D2137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Results emphasise the importance of careful patient selection for NI support.</a:t>
            </a:r>
          </a:p>
          <a:p>
            <a:pPr algn="l"/>
            <a:endParaRPr sz="1000" b="0" i="0">
              <a:solidFill>
                <a:srgbClr val="0D2137"/>
              </a:solidFill>
              <a:latin typeface="Calibri"/>
            </a:endParaRPr>
          </a:p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Reporting multiple estimands offers complementary perspectives for clinical and policy decisions.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81137" y="281137"/>
            <a:ext cx="8637953" cy="16868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4A90A4"/>
                </a:solidFill>
                <a:latin typeface="Calibri"/>
              </a:rPr>
              <a:t>LIMITATIONS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137" y="506047"/>
            <a:ext cx="8708237" cy="350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E3A5F"/>
                </a:solidFill>
                <a:latin typeface="Calibri"/>
              </a:rPr>
              <a:t>Study Constraints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4160520" cy="347472"/>
          </a:xfrm>
          <a:prstGeom prst="rect">
            <a:avLst/>
          </a:prstGeom>
          <a:solidFill>
            <a:srgbClr val="E86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90472"/>
            <a:ext cx="4160520" cy="3127248"/>
          </a:xfrm>
          <a:prstGeom prst="rect">
            <a:avLst/>
          </a:prstGeom>
          <a:solidFill>
            <a:srgbClr val="F4FAFC"/>
          </a:solidFill>
          <a:ln w="6350">
            <a:solidFill>
              <a:srgbClr val="D8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143000"/>
            <a:ext cx="4160520" cy="347472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645920"/>
            <a:ext cx="347472" cy="347472"/>
          </a:xfrm>
          <a:prstGeom prst="ellipse">
            <a:avLst/>
          </a:prstGeom>
          <a:solidFill>
            <a:srgbClr val="E8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627632"/>
            <a:ext cx="3429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D2137"/>
                </a:solidFill>
                <a:latin typeface="Calibri"/>
              </a:rPr>
              <a:t>Limited sample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01952"/>
            <a:ext cx="34290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Reduced statistical power and precision of effect estimates, particularly for sensitivity analyses.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2560320"/>
            <a:ext cx="347472" cy="347472"/>
          </a:xfrm>
          <a:prstGeom prst="ellipse">
            <a:avLst/>
          </a:prstGeom>
          <a:solidFill>
            <a:srgbClr val="E8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5603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42032"/>
            <a:ext cx="3429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D2137"/>
                </a:solidFill>
                <a:latin typeface="Calibri"/>
              </a:rPr>
              <a:t>Pre-treatment information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816352"/>
            <a:ext cx="34290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Limited data on patient characteristics prior to treatment initiation restricted the extent to which baseline confounding could be fully addressed.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474720"/>
            <a:ext cx="347472" cy="347472"/>
          </a:xfrm>
          <a:prstGeom prst="ellipse">
            <a:avLst/>
          </a:prstGeom>
          <a:solidFill>
            <a:srgbClr val="E86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4747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456432"/>
            <a:ext cx="3429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D2137"/>
                </a:solidFill>
                <a:latin typeface="Calibri"/>
              </a:rPr>
              <a:t>Residual confounding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30752"/>
            <a:ext cx="34290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Observational design: unmeasured factors influencing both treatment assignment and outcomes may remain despite propensity score adjustment.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143000"/>
            <a:ext cx="4160520" cy="347472"/>
          </a:xfrm>
          <a:prstGeom prst="rect">
            <a:avLst/>
          </a:prstGeom>
          <a:solidFill>
            <a:srgbClr val="0B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63440" y="1490472"/>
            <a:ext cx="4160520" cy="3127248"/>
          </a:xfrm>
          <a:prstGeom prst="rect">
            <a:avLst/>
          </a:prstGeom>
          <a:solidFill>
            <a:srgbClr val="F4FAFC"/>
          </a:solidFill>
          <a:ln w="6350">
            <a:solidFill>
              <a:srgbClr val="D8E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1143000"/>
            <a:ext cx="4160520" cy="347472"/>
          </a:xfrm>
          <a:prstGeom prst="rect">
            <a:avLst/>
          </a:prstGeom>
          <a:noFill/>
        </p:spPr>
        <p:txBody>
          <a:bodyPr wrap="square" lIns="109728" tIns="109728" rIns="109728" bIns="10972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FUTURE DIRECTIONS</a:t>
            </a:r>
          </a:p>
        </p:txBody>
      </p:sp>
      <p:sp>
        <p:nvSpPr>
          <p:cNvPr id="24" name="Oval 23"/>
          <p:cNvSpPr/>
          <p:nvPr/>
        </p:nvSpPr>
        <p:spPr>
          <a:xfrm>
            <a:off x="4846320" y="1645920"/>
            <a:ext cx="347472" cy="347472"/>
          </a:xfrm>
          <a:prstGeom prst="ellipse">
            <a:avLst/>
          </a:prstGeom>
          <a:solidFill>
            <a:srgbClr val="0B6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16459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1627632"/>
            <a:ext cx="3429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D2137"/>
                </a:solidFill>
                <a:latin typeface="Calibri"/>
              </a:rPr>
              <a:t>Federated analysis across institutions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1901952"/>
            <a:ext cx="34290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Collaborate with other clinical databases to pool evidence while preserving data privacy — increases sample size and statistical power.</a:t>
            </a:r>
          </a:p>
        </p:txBody>
      </p:sp>
      <p:sp>
        <p:nvSpPr>
          <p:cNvPr id="28" name="Oval 27"/>
          <p:cNvSpPr/>
          <p:nvPr/>
        </p:nvSpPr>
        <p:spPr>
          <a:xfrm>
            <a:off x="4846320" y="2560320"/>
            <a:ext cx="347472" cy="347472"/>
          </a:xfrm>
          <a:prstGeom prst="ellipse">
            <a:avLst/>
          </a:prstGeom>
          <a:solidFill>
            <a:srgbClr val="0B6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0" y="25603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2542032"/>
            <a:ext cx="3429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D2137"/>
                </a:solidFill>
                <a:latin typeface="Calibri"/>
              </a:rPr>
              <a:t>Enhanced confounder capture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2816352"/>
            <a:ext cx="34290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Incorporate richer pre-ICU clinical data and treatment trajectories to better address confounding by indication.</a:t>
            </a:r>
          </a:p>
        </p:txBody>
      </p:sp>
      <p:sp>
        <p:nvSpPr>
          <p:cNvPr id="32" name="Oval 31"/>
          <p:cNvSpPr/>
          <p:nvPr/>
        </p:nvSpPr>
        <p:spPr>
          <a:xfrm>
            <a:off x="4846320" y="3474720"/>
            <a:ext cx="347472" cy="347472"/>
          </a:xfrm>
          <a:prstGeom prst="ellipse">
            <a:avLst/>
          </a:prstGeom>
          <a:solidFill>
            <a:srgbClr val="0B6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0" y="34747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456432"/>
            <a:ext cx="3429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D2137"/>
                </a:solidFill>
                <a:latin typeface="Calibri"/>
              </a:rPr>
              <a:t>Cancer subtype-specific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730752"/>
            <a:ext cx="34290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0D2137"/>
                </a:solidFill>
                <a:latin typeface="Calibri"/>
              </a:rPr>
              <a:t>After population-level characterisation, deep-dive into specific cancer subtypes to identify subgroups with differential treatment effects.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1807</Words>
  <Application>Microsoft Macintosh PowerPoint</Application>
  <PresentationFormat>On-screen Show (16:9)</PresentationFormat>
  <Paragraphs>304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微软雅黑</vt:lpstr>
      <vt:lpstr>Arial</vt:lpstr>
      <vt:lpstr>Liter</vt:lpstr>
      <vt:lpstr>Calibri</vt:lpstr>
      <vt:lpstr>Quattrocento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 Sicheng</cp:lastModifiedBy>
  <cp:revision>6</cp:revision>
  <dcterms:modified xsi:type="dcterms:W3CDTF">2026-04-18T07:51:25Z</dcterms:modified>
</cp:coreProperties>
</file>